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/>
    <p:restoredTop sz="94610"/>
  </p:normalViewPr>
  <p:slideViewPr>
    <p:cSldViewPr snapToGrid="0" snapToObjects="1">
      <p:cViewPr varScale="1">
        <p:scale>
          <a:sx n="184" d="100"/>
          <a:sy n="184" d="100"/>
        </p:scale>
        <p:origin x="176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7488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6A69A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645920"/>
            <a:ext cx="73152" cy="228600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50292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📖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374904" y="1691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使用者マニュアル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48056" y="2651760"/>
            <a:ext cx="7699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ログインから実践の記録・本棚の閲覧まで、日常の使い方を説明します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" y="4389120"/>
            <a:ext cx="5486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EF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実践の本棚 | 主題研究 実践記録アプリ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46817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EF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全8スライド  ｜  対象：アプリを使う先生方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52118"/>
            <a:ext cx="9144000" cy="51435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6A69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74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使用者マニュアル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1945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ログイン方法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69494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URLを開き、名前を選んでパスワード（数字）を入力するだけです。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42416"/>
            <a:ext cx="4480560" cy="374904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42416"/>
            <a:ext cx="4480560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2336" y="1124712"/>
            <a:ext cx="91440" cy="9144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0" name="Shape 8"/>
          <p:cNvSpPr/>
          <p:nvPr/>
        </p:nvSpPr>
        <p:spPr>
          <a:xfrm>
            <a:off x="521208" y="1124712"/>
            <a:ext cx="91440" cy="91440"/>
          </a:xfrm>
          <a:prstGeom prst="ellipse">
            <a:avLst/>
          </a:prstGeom>
          <a:solidFill>
            <a:srgbClr val="FDD83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124712"/>
            <a:ext cx="91440" cy="9144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1097280"/>
            <a:ext cx="3968496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1097280"/>
            <a:ext cx="38953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…/exec（先生用アプリ）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20040" y="1280160"/>
            <a:ext cx="4480560" cy="3511296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1408176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📚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594360" y="21762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D40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実践の本棚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94360" y="261518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小学校教職員 主題研究 実践記録アプリ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296265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お名前を選んでください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3236976"/>
            <a:ext cx="3931920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2700">
            <a:solidFill>
              <a:srgbClr val="D7CC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23697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山田　花子　▼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97280" y="3639312"/>
            <a:ext cx="3200400" cy="402336"/>
          </a:xfrm>
          <a:prstGeom prst="roundRect">
            <a:avLst>
              <a:gd name="adj" fmla="val 31818"/>
            </a:avLst>
          </a:prstGeom>
          <a:solidFill>
            <a:srgbClr val="FF7043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363931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🔑 ログイン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4187952"/>
            <a:ext cx="3931920" cy="1828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2611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他のページへ移動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43551" y="4498848"/>
            <a:ext cx="1691640" cy="256032"/>
          </a:xfrm>
          <a:prstGeom prst="roundRect">
            <a:avLst>
              <a:gd name="adj" fmla="val 35714"/>
            </a:avLst>
          </a:prstGeom>
          <a:solidFill>
            <a:srgbClr val="1565C0"/>
          </a:solidFill>
          <a:ln/>
        </p:spPr>
      </p:sp>
      <p:sp>
        <p:nvSpPr>
          <p:cNvPr id="26" name="Text 24"/>
          <p:cNvSpPr/>
          <p:nvPr/>
        </p:nvSpPr>
        <p:spPr>
          <a:xfrm>
            <a:off x="943551" y="44988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🔧 管理者ページ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680911" y="4498848"/>
            <a:ext cx="1691640" cy="256032"/>
          </a:xfrm>
          <a:prstGeom prst="roundRect">
            <a:avLst>
              <a:gd name="adj" fmla="val 35714"/>
            </a:avLst>
          </a:prstGeom>
          <a:solidFill>
            <a:srgbClr val="26A69A"/>
          </a:solidFill>
          <a:ln/>
        </p:spPr>
      </p:sp>
      <p:sp>
        <p:nvSpPr>
          <p:cNvPr id="28" name="Text 26"/>
          <p:cNvSpPr/>
          <p:nvPr/>
        </p:nvSpPr>
        <p:spPr>
          <a:xfrm>
            <a:off x="2680911" y="44988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🏛️ 公共図書館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20640" y="99029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40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【ログインのポイント】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120640" y="1280160"/>
            <a:ext cx="3703320" cy="987552"/>
          </a:xfrm>
          <a:prstGeom prst="roundRect">
            <a:avLst>
              <a:gd name="adj" fmla="val 7407"/>
            </a:avLst>
          </a:prstGeom>
          <a:solidFill>
            <a:srgbClr val="E3F2F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0640" y="1280160"/>
            <a:ext cx="128016" cy="9875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2" name="Text 30"/>
          <p:cNvSpPr/>
          <p:nvPr/>
        </p:nvSpPr>
        <p:spPr>
          <a:xfrm>
            <a:off x="5340096" y="137160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初回ログイン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0096" y="1682496"/>
            <a:ext cx="3410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好きな番号を押してOK →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その番号がパスワードとして登録されます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120640" y="2377440"/>
            <a:ext cx="3703320" cy="987552"/>
          </a:xfrm>
          <a:prstGeom prst="roundRect">
            <a:avLst>
              <a:gd name="adj" fmla="val 7407"/>
            </a:avLst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20640" y="2377440"/>
            <a:ext cx="128016" cy="987552"/>
          </a:xfrm>
          <a:prstGeom prst="rect">
            <a:avLst/>
          </a:prstGeom>
          <a:solidFill>
            <a:srgbClr val="26A69A"/>
          </a:solidFill>
          <a:ln/>
        </p:spPr>
      </p:sp>
      <p:sp>
        <p:nvSpPr>
          <p:cNvPr id="36" name="Text 34"/>
          <p:cNvSpPr/>
          <p:nvPr/>
        </p:nvSpPr>
        <p:spPr>
          <a:xfrm>
            <a:off x="5340096" y="246888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2回目以降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40096" y="2779776"/>
            <a:ext cx="3410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登録した番号を入力して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OKを押すだけでログインできます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120640" y="3474720"/>
            <a:ext cx="3703320" cy="987552"/>
          </a:xfrm>
          <a:prstGeom prst="roundRect">
            <a:avLst>
              <a:gd name="adj" fmla="val 7407"/>
            </a:avLst>
          </a:prstGeom>
          <a:solidFill>
            <a:srgbClr val="FFF9C4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20640" y="3474720"/>
            <a:ext cx="128016" cy="987552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40" name="Text 38"/>
          <p:cNvSpPr/>
          <p:nvPr/>
        </p:nvSpPr>
        <p:spPr>
          <a:xfrm>
            <a:off x="5340096" y="356616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パスワードを忘れた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340096" y="3877056"/>
            <a:ext cx="3410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管理者にリセットを依頼してください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次回ログイン時に再設定できます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120640" y="4553712"/>
            <a:ext cx="3703320" cy="384048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30368" y="4645152"/>
            <a:ext cx="3483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 パスワードは4〜6桁がおすすめです。誕生日など覚えやすい番号にしましょう。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6A69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74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使用者マニュアル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1945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メニュー画面  ─  3つの機能から選ぶ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69494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ログイン後のメニューから、やりたいことを選んでください。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42416"/>
            <a:ext cx="4480560" cy="374904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42416"/>
            <a:ext cx="4480560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2336" y="1124712"/>
            <a:ext cx="91440" cy="9144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0" name="Shape 8"/>
          <p:cNvSpPr/>
          <p:nvPr/>
        </p:nvSpPr>
        <p:spPr>
          <a:xfrm>
            <a:off x="521208" y="1124712"/>
            <a:ext cx="91440" cy="91440"/>
          </a:xfrm>
          <a:prstGeom prst="ellipse">
            <a:avLst/>
          </a:prstGeom>
          <a:solidFill>
            <a:srgbClr val="FDD83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124712"/>
            <a:ext cx="91440" cy="9144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1097280"/>
            <a:ext cx="3968496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1097280"/>
            <a:ext cx="38953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…/exec（メニュー）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20040" y="1280160"/>
            <a:ext cx="4480560" cy="3511296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1389888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📚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502920" y="226771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D40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ようこそ、山田 花子 先生！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257860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主題研究 実践記録アプリ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68680" y="2944368"/>
            <a:ext cx="3108960" cy="384048"/>
          </a:xfrm>
          <a:prstGeom prst="roundRect">
            <a:avLst>
              <a:gd name="adj" fmla="val 33333"/>
            </a:avLst>
          </a:prstGeom>
          <a:solidFill>
            <a:srgbClr val="FF7043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29443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✏️ 新しい実践を記録する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8680" y="3419856"/>
            <a:ext cx="3108960" cy="384048"/>
          </a:xfrm>
          <a:prstGeom prst="roundRect">
            <a:avLst>
              <a:gd name="adj" fmla="val 33333"/>
            </a:avLst>
          </a:prstGeom>
          <a:solidFill>
            <a:srgbClr val="FFA726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41985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🗂️ 自分の書庫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68680" y="3895344"/>
            <a:ext cx="3108960" cy="384048"/>
          </a:xfrm>
          <a:prstGeom prst="roundRect">
            <a:avLst>
              <a:gd name="adj" fmla="val 33333"/>
            </a:avLst>
          </a:prstGeom>
          <a:solidFill>
            <a:srgbClr val="26A69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89534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🏛️ 公共図書館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417320" y="4407408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78909C"/>
          </a:solidFill>
          <a:ln/>
        </p:spPr>
      </p:sp>
      <p:sp>
        <p:nvSpPr>
          <p:cNvPr id="25" name="Text 23"/>
          <p:cNvSpPr/>
          <p:nvPr/>
        </p:nvSpPr>
        <p:spPr>
          <a:xfrm>
            <a:off x="1417320" y="44074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← ログアウト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0" y="98755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40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【各ボタンの機能】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120640" y="1237508"/>
            <a:ext cx="37033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20640" y="1237508"/>
            <a:ext cx="128016" cy="987552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29" name="Text 27"/>
          <p:cNvSpPr/>
          <p:nvPr/>
        </p:nvSpPr>
        <p:spPr>
          <a:xfrm>
            <a:off x="5340096" y="1328948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✏️ 新しい実践を記録する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40096" y="1658132"/>
            <a:ext cx="3410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授業での子どもたちの言動・教師の仕掛け・成果と課題を記録します。写真も添付できます。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20640" y="2353076"/>
            <a:ext cx="37033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20640" y="2353076"/>
            <a:ext cx="128016" cy="987552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33" name="Text 31"/>
          <p:cNvSpPr/>
          <p:nvPr/>
        </p:nvSpPr>
        <p:spPr>
          <a:xfrm>
            <a:off x="5340096" y="2444516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🗂️ 自分の書庫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0096" y="2773700"/>
            <a:ext cx="3410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自分が書いた記録の一覧です。本をクリックして閲覧・編集・削除ができます。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120640" y="3468644"/>
            <a:ext cx="37033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20640" y="3468644"/>
            <a:ext cx="128016" cy="987552"/>
          </a:xfrm>
          <a:prstGeom prst="rect">
            <a:avLst/>
          </a:prstGeom>
          <a:solidFill>
            <a:srgbClr val="26A69A"/>
          </a:solidFill>
          <a:ln/>
        </p:spPr>
      </p:sp>
      <p:sp>
        <p:nvSpPr>
          <p:cNvPr id="37" name="Text 35"/>
          <p:cNvSpPr/>
          <p:nvPr/>
        </p:nvSpPr>
        <p:spPr>
          <a:xfrm>
            <a:off x="5340096" y="3560084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🏛️ 公共図書館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40096" y="3889268"/>
            <a:ext cx="3410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登録されている先生全員の記録を読むことができます</a:t>
            </a:r>
            <a:r>
              <a:rPr lang="en-US" sz="10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</a:t>
            </a:r>
            <a:r>
              <a:rPr lang="en-US" sz="1000" dirty="0" err="1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読み専用</a:t>
            </a:r>
            <a:r>
              <a:rPr lang="en-US" sz="10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）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120640" y="4547636"/>
            <a:ext cx="3703320" cy="402336"/>
          </a:xfrm>
          <a:prstGeom prst="roundRect">
            <a:avLst>
              <a:gd name="adj" fmla="val 15909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30368" y="4639076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 操作に困ったらメニューに戻ってやり直せます。「← 戻る」ボタンでひとつ前の画面に戻ります。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6A69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74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使用者マニュアル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1945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実践を記録する  ─  入力フォームの使い方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69494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7つの項目に記録します。必須は「タイトル」のみで、他はすべて任意です。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42416"/>
            <a:ext cx="4480560" cy="374904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42416"/>
            <a:ext cx="4480560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2336" y="1124712"/>
            <a:ext cx="91440" cy="9144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0" name="Shape 8"/>
          <p:cNvSpPr/>
          <p:nvPr/>
        </p:nvSpPr>
        <p:spPr>
          <a:xfrm>
            <a:off x="521208" y="1124712"/>
            <a:ext cx="91440" cy="91440"/>
          </a:xfrm>
          <a:prstGeom prst="ellipse">
            <a:avLst/>
          </a:prstGeom>
          <a:solidFill>
            <a:srgbClr val="FDD83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124712"/>
            <a:ext cx="91440" cy="9144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1097280"/>
            <a:ext cx="3968496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1097280"/>
            <a:ext cx="38953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…/exec（記録フォーム）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20040" y="1280160"/>
            <a:ext cx="4480560" cy="3511296"/>
          </a:xfrm>
          <a:prstGeom prst="rect">
            <a:avLst/>
          </a:prstGeom>
          <a:solidFill>
            <a:srgbClr val="FFFCF5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280160"/>
            <a:ext cx="4480560" cy="310896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" y="13167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✏️ 新しい実践を記録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9768" y="1682496"/>
            <a:ext cx="4279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D40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📌 タイトル *（必須）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29768" y="1865376"/>
            <a:ext cx="4279392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7CC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1865376"/>
            <a:ext cx="4151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算数「分数のわり算」導入場面での子どもの反応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29768" y="21031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D40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📅 いつ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29768" y="2249424"/>
            <a:ext cx="164592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7C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2249424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2025/04/15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148840" y="21031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D40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📍 どこで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148840" y="2249424"/>
            <a:ext cx="256032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7CC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12848" y="2249424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6年1組 教室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29768" y="2487168"/>
            <a:ext cx="4279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D40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👥 誰が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29768" y="2633472"/>
            <a:ext cx="4279392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7CC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" y="2633472"/>
            <a:ext cx="4151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6年1組 全員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29768" y="2871216"/>
            <a:ext cx="4279392" cy="201168"/>
          </a:xfrm>
          <a:prstGeom prst="roundRect">
            <a:avLst>
              <a:gd name="adj" fmla="val 18182"/>
            </a:avLst>
          </a:prstGeom>
          <a:solidFill>
            <a:srgbClr val="26A69A"/>
          </a:solidFill>
          <a:ln/>
        </p:spPr>
      </p:sp>
      <p:sp>
        <p:nvSpPr>
          <p:cNvPr id="30" name="Text 28"/>
          <p:cNvSpPr/>
          <p:nvPr/>
        </p:nvSpPr>
        <p:spPr>
          <a:xfrm>
            <a:off x="429768" y="2871216"/>
            <a:ext cx="4279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📝 具体的な言動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9768" y="3108960"/>
            <a:ext cx="4279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29768" y="3291840"/>
            <a:ext cx="4279392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D7CC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" y="3291840"/>
            <a:ext cx="4151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Aさんが「○○と同じじゃない？」と発言し…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29768" y="3566160"/>
            <a:ext cx="4279392" cy="219456"/>
          </a:xfrm>
          <a:prstGeom prst="roundRect">
            <a:avLst>
              <a:gd name="adj" fmla="val 16667"/>
            </a:avLst>
          </a:prstGeom>
          <a:solidFill>
            <a:srgbClr val="ECEFF1"/>
          </a:solidFill>
          <a:ln w="6350">
            <a:solidFill>
              <a:srgbClr val="D7CC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" y="3566160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📁 クリックして写真を選択（任意・5MBまで）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29768" y="3858768"/>
            <a:ext cx="4279392" cy="201168"/>
          </a:xfrm>
          <a:prstGeom prst="roundRect">
            <a:avLst>
              <a:gd name="adj" fmla="val 18182"/>
            </a:avLst>
          </a:prstGeom>
          <a:solidFill>
            <a:srgbClr val="26A69A"/>
          </a:solidFill>
          <a:ln/>
        </p:spPr>
      </p:sp>
      <p:sp>
        <p:nvSpPr>
          <p:cNvPr id="37" name="Text 35"/>
          <p:cNvSpPr/>
          <p:nvPr/>
        </p:nvSpPr>
        <p:spPr>
          <a:xfrm>
            <a:off x="429768" y="3858768"/>
            <a:ext cx="4279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教師の仕掛け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29768" y="4133088"/>
            <a:ext cx="4279392" cy="201168"/>
          </a:xfrm>
          <a:prstGeom prst="roundRect">
            <a:avLst>
              <a:gd name="adj" fmla="val 18182"/>
            </a:avLst>
          </a:prstGeom>
          <a:solidFill>
            <a:srgbClr val="26A69A"/>
          </a:solidFill>
          <a:ln/>
        </p:spPr>
      </p:sp>
      <p:sp>
        <p:nvSpPr>
          <p:cNvPr id="39" name="Text 37"/>
          <p:cNvSpPr/>
          <p:nvPr/>
        </p:nvSpPr>
        <p:spPr>
          <a:xfrm>
            <a:off x="429768" y="4133088"/>
            <a:ext cx="4279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成果と課題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691640" y="4443984"/>
            <a:ext cx="1828800" cy="292608"/>
          </a:xfrm>
          <a:prstGeom prst="roundRect">
            <a:avLst>
              <a:gd name="adj" fmla="val 37500"/>
            </a:avLst>
          </a:prstGeom>
          <a:solidFill>
            <a:srgbClr val="FF7043"/>
          </a:solidFill>
          <a:ln/>
        </p:spPr>
      </p:sp>
      <p:sp>
        <p:nvSpPr>
          <p:cNvPr id="41" name="Text 39"/>
          <p:cNvSpPr/>
          <p:nvPr/>
        </p:nvSpPr>
        <p:spPr>
          <a:xfrm>
            <a:off x="1691640" y="44439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💾 保存する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20640" y="104241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40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【各フィールドの説明】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120640" y="131673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12080" y="137160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628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📌 タイトル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212080" y="1591056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記録のタイトル。必須項目。本の背表紙に表示されます。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120640" y="184708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12080" y="190195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6A6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📅 いつ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212080" y="2121408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授業・実践の日付（必須ではない）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120640" y="237744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2080" y="243230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6A6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📍 どこで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212080" y="2651760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場所（例：6年1組教室）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120640" y="2907792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2080" y="296265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6A6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👥 誰が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212080" y="3182112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対象となった児童・グループ名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120640" y="3438144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12080" y="349300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6A6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📝 具体的な言動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212080" y="3712464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児童・生徒の発言・行動の記録。写真添付可。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120640" y="396849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12080" y="402336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6A6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教師の仕掛け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212080" y="4242816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どんな意図でどのような働きかけをしたか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120640" y="449884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212080" y="455371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6A6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成果と課題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212080" y="4773168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うまくいったこと・次の課題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6A69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74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使用者マニュアル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1945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自分の書庫  ─  記録を読む・編集・削除する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69494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「自分の書庫」に保存した記録が本として並びます。本をクリックすると読めます。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42416"/>
            <a:ext cx="8503920" cy="2267712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42416"/>
            <a:ext cx="8503920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2336" y="1124712"/>
            <a:ext cx="91440" cy="9144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0" name="Shape 8"/>
          <p:cNvSpPr/>
          <p:nvPr/>
        </p:nvSpPr>
        <p:spPr>
          <a:xfrm>
            <a:off x="521208" y="1124712"/>
            <a:ext cx="91440" cy="91440"/>
          </a:xfrm>
          <a:prstGeom prst="ellipse">
            <a:avLst/>
          </a:prstGeom>
          <a:solidFill>
            <a:srgbClr val="FDD83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124712"/>
            <a:ext cx="91440" cy="9144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1097280"/>
            <a:ext cx="7991856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1097280"/>
            <a:ext cx="7918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…/exec（自分の書庫）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20040" y="1280160"/>
            <a:ext cx="8503920" cy="1911035"/>
          </a:xfrm>
          <a:prstGeom prst="rect">
            <a:avLst/>
          </a:prstGeom>
          <a:solidFill>
            <a:srgbClr val="FFF8E1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280160"/>
            <a:ext cx="8503920" cy="310896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3167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🗂️ 自分の書庫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92440" y="1335024"/>
            <a:ext cx="594360" cy="219456"/>
          </a:xfrm>
          <a:prstGeom prst="roundRect">
            <a:avLst>
              <a:gd name="adj" fmla="val 25000"/>
            </a:avLst>
          </a:prstGeom>
          <a:solidFill>
            <a:srgbClr val="78909C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1335024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← メニュー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1480" y="1645920"/>
            <a:ext cx="8321040" cy="1335024"/>
          </a:xfrm>
          <a:prstGeom prst="rect">
            <a:avLst/>
          </a:prstGeom>
          <a:solidFill>
            <a:srgbClr val="FFECB3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" y="1700784"/>
            <a:ext cx="786384" cy="1005840"/>
          </a:xfrm>
          <a:prstGeom prst="roundRect">
            <a:avLst>
              <a:gd name="adj" fmla="val 8889"/>
            </a:avLst>
          </a:prstGeom>
          <a:solidFill>
            <a:srgbClr val="FF9A9E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" y="1700784"/>
            <a:ext cx="64008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58952" y="1700784"/>
            <a:ext cx="64008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892808" y="1700784"/>
            <a:ext cx="786384" cy="1005840"/>
          </a:xfrm>
          <a:prstGeom prst="roundRect">
            <a:avLst>
              <a:gd name="adj" fmla="val 8889"/>
            </a:avLst>
          </a:prstGeom>
          <a:solidFill>
            <a:srgbClr val="A18CD1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92808" y="1700784"/>
            <a:ext cx="64008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892808" y="1700784"/>
            <a:ext cx="64008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3026664" y="1700784"/>
            <a:ext cx="786384" cy="1005840"/>
          </a:xfrm>
          <a:prstGeom prst="roundRect">
            <a:avLst>
              <a:gd name="adj" fmla="val 8889"/>
            </a:avLst>
          </a:prstGeom>
          <a:solidFill>
            <a:srgbClr val="84FAB0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26664" y="1700784"/>
            <a:ext cx="64008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3026664" y="1700784"/>
            <a:ext cx="64008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160520" y="1700784"/>
            <a:ext cx="786384" cy="1005840"/>
          </a:xfrm>
          <a:prstGeom prst="roundRect">
            <a:avLst>
              <a:gd name="adj" fmla="val 8889"/>
            </a:avLst>
          </a:prstGeom>
          <a:solidFill>
            <a:srgbClr val="FFECD2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60520" y="1700784"/>
            <a:ext cx="64008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160520" y="1700784"/>
            <a:ext cx="64008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5294376" y="1700784"/>
            <a:ext cx="786384" cy="1005840"/>
          </a:xfrm>
          <a:prstGeom prst="roundRect">
            <a:avLst>
              <a:gd name="adj" fmla="val 8889"/>
            </a:avLst>
          </a:prstGeom>
          <a:solidFill>
            <a:srgbClr val="A1C4F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94376" y="1700784"/>
            <a:ext cx="64008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5294376" y="1700784"/>
            <a:ext cx="64008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6428232" y="1700784"/>
            <a:ext cx="786384" cy="1005840"/>
          </a:xfrm>
          <a:prstGeom prst="roundRect">
            <a:avLst>
              <a:gd name="adj" fmla="val 8889"/>
            </a:avLst>
          </a:prstGeom>
          <a:solidFill>
            <a:srgbClr val="F6D365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28232" y="1700784"/>
            <a:ext cx="64008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6428232" y="1700784"/>
            <a:ext cx="64008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7562088" y="1700784"/>
            <a:ext cx="786384" cy="1005840"/>
          </a:xfrm>
          <a:prstGeom prst="roundRect">
            <a:avLst>
              <a:gd name="adj" fmla="val 8889"/>
            </a:avLst>
          </a:prstGeom>
          <a:solidFill>
            <a:srgbClr val="F093FB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62088" y="1700784"/>
            <a:ext cx="64008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7562088" y="1700784"/>
            <a:ext cx="64008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11480" y="2706624"/>
            <a:ext cx="8321040" cy="164592"/>
          </a:xfrm>
          <a:prstGeom prst="rect">
            <a:avLst/>
          </a:prstGeom>
          <a:solidFill>
            <a:srgbClr val="A1887F"/>
          </a:solidFill>
          <a:ln/>
        </p:spPr>
      </p:sp>
      <p:sp>
        <p:nvSpPr>
          <p:cNvPr id="42" name="Shape 40"/>
          <p:cNvSpPr/>
          <p:nvPr/>
        </p:nvSpPr>
        <p:spPr>
          <a:xfrm>
            <a:off x="411480" y="2706624"/>
            <a:ext cx="8321040" cy="8229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3" name="Shape 41"/>
          <p:cNvSpPr/>
          <p:nvPr/>
        </p:nvSpPr>
        <p:spPr>
          <a:xfrm>
            <a:off x="2514600" y="3461004"/>
            <a:ext cx="6309360" cy="146304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BDBDB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14600" y="3461004"/>
            <a:ext cx="6309360" cy="402336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45" name="Text 43"/>
          <p:cNvSpPr/>
          <p:nvPr/>
        </p:nvSpPr>
        <p:spPr>
          <a:xfrm>
            <a:off x="2624328" y="3497580"/>
            <a:ext cx="6089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算数「分数のわり算」導入場面での子どもの反応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624328" y="3881628"/>
            <a:ext cx="6089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✍️ 山田花子 先生　📅 2025/4/15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624328" y="4101084"/>
            <a:ext cx="6089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📍 6年1組教室　　👥 6年1組全員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📝 Aさんが「前の単元と同じでは？」と発言し、グループ内で話し合いが始まった…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514600" y="4777740"/>
            <a:ext cx="6309360" cy="1828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49" name="Shape 47"/>
          <p:cNvSpPr/>
          <p:nvPr/>
        </p:nvSpPr>
        <p:spPr>
          <a:xfrm>
            <a:off x="2624328" y="4485132"/>
            <a:ext cx="1005840" cy="256032"/>
          </a:xfrm>
          <a:prstGeom prst="roundRect">
            <a:avLst>
              <a:gd name="adj" fmla="val 25000"/>
            </a:avLst>
          </a:prstGeom>
          <a:solidFill>
            <a:srgbClr val="78909C"/>
          </a:solidFill>
          <a:ln/>
        </p:spPr>
      </p:sp>
      <p:sp>
        <p:nvSpPr>
          <p:cNvPr id="50" name="Text 48"/>
          <p:cNvSpPr/>
          <p:nvPr/>
        </p:nvSpPr>
        <p:spPr>
          <a:xfrm>
            <a:off x="2624328" y="44851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✕ 閉じる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703320" y="4485132"/>
            <a:ext cx="1005840" cy="256032"/>
          </a:xfrm>
          <a:prstGeom prst="roundRect">
            <a:avLst>
              <a:gd name="adj" fmla="val 25000"/>
            </a:avLst>
          </a:prstGeom>
          <a:solidFill>
            <a:srgbClr val="FFA726"/>
          </a:solidFill>
          <a:ln/>
        </p:spPr>
      </p:sp>
      <p:sp>
        <p:nvSpPr>
          <p:cNvPr id="52" name="Text 50"/>
          <p:cNvSpPr/>
          <p:nvPr/>
        </p:nvSpPr>
        <p:spPr>
          <a:xfrm>
            <a:off x="3703320" y="44851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✏️ 編集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800600" y="4485132"/>
            <a:ext cx="1005840" cy="256032"/>
          </a:xfrm>
          <a:prstGeom prst="roundRect">
            <a:avLst>
              <a:gd name="adj" fmla="val 25000"/>
            </a:avLst>
          </a:prstGeom>
          <a:solidFill>
            <a:srgbClr val="C62828"/>
          </a:solidFill>
          <a:ln/>
        </p:spPr>
      </p:sp>
      <p:sp>
        <p:nvSpPr>
          <p:cNvPr id="54" name="Text 52"/>
          <p:cNvSpPr/>
          <p:nvPr/>
        </p:nvSpPr>
        <p:spPr>
          <a:xfrm>
            <a:off x="4800600" y="44851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🗑 削除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58952" y="34610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26A6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本をクリックすると記録が開く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897880" y="4489704"/>
            <a:ext cx="2852928" cy="379476"/>
          </a:xfrm>
          <a:prstGeom prst="roundRect">
            <a:avLst>
              <a:gd name="adj" fmla="val 12500"/>
            </a:avLst>
          </a:prstGeom>
          <a:solidFill>
            <a:srgbClr val="FFF3E0"/>
          </a:solidFill>
          <a:ln w="19050">
            <a:solidFill>
              <a:srgbClr val="FFA7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01099" y="4581145"/>
            <a:ext cx="2578305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360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  </a:t>
            </a:r>
            <a:r>
              <a:rPr lang="en-US" sz="1000" dirty="0" err="1">
                <a:solidFill>
                  <a:srgbClr val="BF360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削除した記録は元に戻せません</a:t>
            </a:r>
            <a:r>
              <a:rPr lang="en-US" sz="1000" dirty="0">
                <a:solidFill>
                  <a:srgbClr val="BF360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</a:p>
          <a:p>
            <a:pPr marL="0" indent="0">
              <a:buNone/>
            </a:pPr>
            <a:r>
              <a:rPr lang="ja-JP" altLang="en-US" sz="1000">
                <a:solidFill>
                  <a:srgbClr val="BF360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</a:t>
            </a:r>
            <a:r>
              <a:rPr lang="en-US" sz="1000" dirty="0" err="1">
                <a:solidFill>
                  <a:srgbClr val="BF360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公共図書館からも消えます</a:t>
            </a:r>
            <a:r>
              <a:rPr lang="en-US" sz="1000" dirty="0">
                <a:solidFill>
                  <a:srgbClr val="BF360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6A69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74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使用者マニュアル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1945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公共図書館  ─  全員の記録を閲覧する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69494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全先生の記録を閲覧できます。自分以外の記録は読み専用（編集・削除不可）です。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42416"/>
            <a:ext cx="850392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42416"/>
            <a:ext cx="8503920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2336" y="1124712"/>
            <a:ext cx="91440" cy="9144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0" name="Shape 8"/>
          <p:cNvSpPr/>
          <p:nvPr/>
        </p:nvSpPr>
        <p:spPr>
          <a:xfrm>
            <a:off x="521208" y="1124712"/>
            <a:ext cx="91440" cy="91440"/>
          </a:xfrm>
          <a:prstGeom prst="ellipse">
            <a:avLst/>
          </a:prstGeom>
          <a:solidFill>
            <a:srgbClr val="FDD83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124712"/>
            <a:ext cx="91440" cy="9144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1097280"/>
            <a:ext cx="7991856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1097280"/>
            <a:ext cx="7918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…/exec?page=library（公共図書館）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20040" y="1280160"/>
            <a:ext cx="8503920" cy="804672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15" name="Shape 13"/>
          <p:cNvSpPr/>
          <p:nvPr/>
        </p:nvSpPr>
        <p:spPr>
          <a:xfrm>
            <a:off x="5349240" y="1280160"/>
            <a:ext cx="3474720" cy="804672"/>
          </a:xfrm>
          <a:prstGeom prst="rect">
            <a:avLst/>
          </a:prstGeom>
          <a:solidFill>
            <a:srgbClr val="8D6E63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1316736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🏛️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14400" y="13350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公共図書館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16642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実践の本棚 | すべての先生の記録をご覧いただけます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084832"/>
            <a:ext cx="8503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1214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D40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📚 著者：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289304" y="2121408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62456" y="21214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すべての先生 ▼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54680" y="2139696"/>
            <a:ext cx="658368" cy="182880"/>
          </a:xfrm>
          <a:prstGeom prst="roundRect">
            <a:avLst>
              <a:gd name="adj" fmla="val 40000"/>
            </a:avLst>
          </a:prstGeom>
          <a:solidFill>
            <a:srgbClr val="26A69A"/>
          </a:solidFill>
          <a:ln/>
        </p:spPr>
      </p:sp>
      <p:sp>
        <p:nvSpPr>
          <p:cNvPr id="24" name="Text 22"/>
          <p:cNvSpPr/>
          <p:nvPr/>
        </p:nvSpPr>
        <p:spPr>
          <a:xfrm>
            <a:off x="3154680" y="213969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 冊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635240" y="2121408"/>
            <a:ext cx="822960" cy="219456"/>
          </a:xfrm>
          <a:prstGeom prst="roundRect">
            <a:avLst>
              <a:gd name="adj" fmla="val 41667"/>
            </a:avLst>
          </a:prstGeom>
          <a:solidFill>
            <a:srgbClr val="26A69A"/>
          </a:solidFill>
          <a:ln/>
        </p:spPr>
      </p:sp>
      <p:sp>
        <p:nvSpPr>
          <p:cNvPr id="26" name="Text 24"/>
          <p:cNvSpPr/>
          <p:nvPr/>
        </p:nvSpPr>
        <p:spPr>
          <a:xfrm>
            <a:off x="7635240" y="21214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📅 新着順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2377440"/>
            <a:ext cx="8503920" cy="2688336"/>
          </a:xfrm>
          <a:prstGeom prst="rect">
            <a:avLst/>
          </a:prstGeom>
          <a:solidFill>
            <a:srgbClr val="FFECB3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2432304"/>
            <a:ext cx="83210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2432304"/>
            <a:ext cx="832104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" y="24505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D40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📚 山田 花子 先生の棚（3冊）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21208" y="2706624"/>
            <a:ext cx="841248" cy="836676"/>
          </a:xfrm>
          <a:prstGeom prst="roundRect">
            <a:avLst>
              <a:gd name="adj" fmla="val 4348"/>
            </a:avLst>
          </a:prstGeom>
          <a:solidFill>
            <a:srgbClr val="FF9A9E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1208" y="2706624"/>
            <a:ext cx="45719" cy="7184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521208" y="2706624"/>
            <a:ext cx="64008" cy="8366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527048" y="2706624"/>
            <a:ext cx="841248" cy="832104"/>
          </a:xfrm>
          <a:prstGeom prst="roundRect">
            <a:avLst>
              <a:gd name="adj" fmla="val 4348"/>
            </a:avLst>
          </a:prstGeom>
          <a:solidFill>
            <a:srgbClr val="A18CD1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27048" y="2706624"/>
            <a:ext cx="45719" cy="7184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1527048" y="2706624"/>
            <a:ext cx="64008" cy="8366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2532888" y="2706624"/>
            <a:ext cx="841248" cy="836676"/>
          </a:xfrm>
          <a:prstGeom prst="roundRect">
            <a:avLst>
              <a:gd name="adj" fmla="val 4348"/>
            </a:avLst>
          </a:prstGeom>
          <a:solidFill>
            <a:srgbClr val="84FAB0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32888" y="2706624"/>
            <a:ext cx="45719" cy="7184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2532888" y="2706624"/>
            <a:ext cx="64008" cy="8366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411480" y="3543300"/>
            <a:ext cx="8321040" cy="164592"/>
          </a:xfrm>
          <a:prstGeom prst="rect">
            <a:avLst/>
          </a:prstGeom>
          <a:solidFill>
            <a:srgbClr val="A1887F"/>
          </a:solidFill>
          <a:ln/>
        </p:spPr>
      </p:sp>
      <p:sp>
        <p:nvSpPr>
          <p:cNvPr id="41" name="Shape 39"/>
          <p:cNvSpPr/>
          <p:nvPr/>
        </p:nvSpPr>
        <p:spPr>
          <a:xfrm>
            <a:off x="411480" y="3543300"/>
            <a:ext cx="8321040" cy="8229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411480" y="3744468"/>
            <a:ext cx="832104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521208" y="37627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D40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📚 鈴木 一郎 先生の棚（2冊）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21208" y="4014216"/>
            <a:ext cx="841248" cy="841248"/>
          </a:xfrm>
          <a:prstGeom prst="roundRect">
            <a:avLst>
              <a:gd name="adj" fmla="val 4348"/>
            </a:avLst>
          </a:prstGeom>
          <a:solidFill>
            <a:srgbClr val="FFECD2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1208" y="4014216"/>
            <a:ext cx="64008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521208" y="4014216"/>
            <a:ext cx="64008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1527048" y="4014216"/>
            <a:ext cx="841248" cy="841248"/>
          </a:xfrm>
          <a:prstGeom prst="roundRect">
            <a:avLst>
              <a:gd name="adj" fmla="val 4348"/>
            </a:avLst>
          </a:prstGeom>
          <a:solidFill>
            <a:srgbClr val="A1C4F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527048" y="4014216"/>
            <a:ext cx="64008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47"/>
          <p:cNvSpPr/>
          <p:nvPr/>
        </p:nvSpPr>
        <p:spPr>
          <a:xfrm>
            <a:off x="1527048" y="4014216"/>
            <a:ext cx="64008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411480" y="4855464"/>
            <a:ext cx="8321040" cy="164592"/>
          </a:xfrm>
          <a:prstGeom prst="rect">
            <a:avLst/>
          </a:prstGeom>
          <a:solidFill>
            <a:srgbClr val="A1887F"/>
          </a:solidFill>
          <a:ln/>
        </p:spPr>
      </p:sp>
      <p:sp>
        <p:nvSpPr>
          <p:cNvPr id="51" name="Shape 49"/>
          <p:cNvSpPr/>
          <p:nvPr/>
        </p:nvSpPr>
        <p:spPr>
          <a:xfrm>
            <a:off x="411480" y="4855464"/>
            <a:ext cx="8321040" cy="8229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2" name="Text 50"/>
          <p:cNvSpPr/>
          <p:nvPr/>
        </p:nvSpPr>
        <p:spPr>
          <a:xfrm>
            <a:off x="3977640" y="21762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26A6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著者フィルター：特定の先生の記録だけ表示できます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6A69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74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使用者マニュアル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1945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自動更新機能  ─  操作しなくても最新の状態に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69494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どのページでも、他の先生が記録を追加・変更すると約10秒後に自動で反映されます。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60704"/>
            <a:ext cx="2011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" y="1106424"/>
            <a:ext cx="384048" cy="384048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9" name="Text 7"/>
          <p:cNvSpPr/>
          <p:nvPr/>
        </p:nvSpPr>
        <p:spPr>
          <a:xfrm>
            <a:off x="1133856" y="1106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60934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先生Aが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記録を保存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221992" y="1682496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68880" y="1060704"/>
            <a:ext cx="2011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82696" y="1106424"/>
            <a:ext cx="384048" cy="384048"/>
          </a:xfrm>
          <a:prstGeom prst="ellipse">
            <a:avLst/>
          </a:prstGeom>
          <a:solidFill>
            <a:srgbClr val="26A69A"/>
          </a:solidFill>
          <a:ln/>
        </p:spPr>
      </p:sp>
      <p:sp>
        <p:nvSpPr>
          <p:cNvPr id="14" name="Text 12"/>
          <p:cNvSpPr/>
          <p:nvPr/>
        </p:nvSpPr>
        <p:spPr>
          <a:xfrm>
            <a:off x="3282696" y="1106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0320" y="160934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サーバーに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保存される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70832" y="1682496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17720" y="1060704"/>
            <a:ext cx="2011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31536" y="1106424"/>
            <a:ext cx="384048" cy="38404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5431536" y="1106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160934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変更を検知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（約10秒後）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19672" y="1682496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766560" y="1060704"/>
            <a:ext cx="2011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0376" y="1106424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7580376" y="1106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0" y="160934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全ページが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自動で更新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0040" y="2670048"/>
            <a:ext cx="4096512" cy="1773936"/>
          </a:xfrm>
          <a:prstGeom prst="roundRect">
            <a:avLst>
              <a:gd name="adj" fmla="val 2985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🔄 自動更新される画面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8056" y="309067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✦  自分の書庫（個人ページ）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8056" y="356616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✦  公共図書館（先生用・一般公開版）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48056" y="404164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✦  管理者ページの各タブ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36008" y="2670048"/>
            <a:ext cx="4096512" cy="1773936"/>
          </a:xfrm>
          <a:prstGeom prst="roundRect">
            <a:avLst>
              <a:gd name="adj" fmla="val 2985"/>
            </a:avLst>
          </a:prstGeom>
          <a:solidFill>
            <a:srgbClr val="FFF3E0"/>
          </a:solidFill>
          <a:ln w="19050">
            <a:solidFill>
              <a:srgbClr val="FFA7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64024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7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⏸ 自動更新されない場面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64024" y="309067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✦  記録フォームの入力中（入力内容を保護するため）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64024" y="356616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✦  ログアウト後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4572000"/>
            <a:ext cx="8503920" cy="420624"/>
          </a:xfrm>
          <a:prstGeom prst="roundRect">
            <a:avLst>
              <a:gd name="adj" fmla="val 17391"/>
            </a:avLst>
          </a:prstGeom>
          <a:solidFill>
            <a:srgbClr val="E0F2F1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62686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通知イメージ（右下に表示）：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794760" y="4608576"/>
            <a:ext cx="2011680" cy="310896"/>
          </a:xfrm>
          <a:prstGeom prst="roundRect">
            <a:avLst>
              <a:gd name="adj" fmla="val 35294"/>
            </a:avLst>
          </a:prstGeom>
          <a:solidFill>
            <a:srgbClr val="26A69A"/>
          </a:solidFill>
          <a:ln/>
        </p:spPr>
      </p:sp>
      <p:sp>
        <p:nvSpPr>
          <p:cNvPr id="38" name="Text 36"/>
          <p:cNvSpPr/>
          <p:nvPr/>
        </p:nvSpPr>
        <p:spPr>
          <a:xfrm>
            <a:off x="3794760" y="46085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🔄 自動更新しました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97880" y="46268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6A6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このメッセージが出たら更新済みです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572768"/>
            <a:ext cx="73152" cy="237744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7" name="Text 5"/>
          <p:cNvSpPr/>
          <p:nvPr/>
        </p:nvSpPr>
        <p:spPr>
          <a:xfrm>
            <a:off x="374904" y="2743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困ったときは？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20040" y="1060704"/>
            <a:ext cx="850392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60704"/>
            <a:ext cx="850392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" y="1280160"/>
            <a:ext cx="384048" cy="384048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05256" y="1115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ECB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ログインできない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05256" y="1426464"/>
            <a:ext cx="7808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Meiryo" pitchFamily="34" charset="0"/>
                <a:ea typeface="Meiryo" pitchFamily="34" charset="-122"/>
                <a:cs typeface="Meiryo" pitchFamily="34" charset="-120"/>
              </a:rPr>
              <a:t>教員名簿シートにお名前があるか確認。パスワードを忘れた場合は管理者にリセットを依頼してください。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011680"/>
            <a:ext cx="850392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011680"/>
            <a:ext cx="850392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2231136"/>
            <a:ext cx="384048" cy="384048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5256" y="20665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ECB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記録が表示されない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05256" y="2377440"/>
            <a:ext cx="7808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Meiryo" pitchFamily="34" charset="0"/>
                <a:ea typeface="Meiryo" pitchFamily="34" charset="-122"/>
                <a:cs typeface="Meiryo" pitchFamily="34" charset="-120"/>
              </a:rPr>
              <a:t>コードを更新した場合は「新しいバージョン」で再デプロイが必要です。スプレッドシートの「実践記録」シートを確認してください。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962656"/>
            <a:ext cx="850392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962656"/>
            <a:ext cx="850392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3182112"/>
            <a:ext cx="384048" cy="384048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5256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ECB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写真がアップロードできない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05256" y="3328416"/>
            <a:ext cx="7808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Meiryo" pitchFamily="34" charset="0"/>
                <a:ea typeface="Meiryo" pitchFamily="34" charset="-122"/>
                <a:cs typeface="Meiryo" pitchFamily="34" charset="-120"/>
              </a:rPr>
              <a:t>ファイルサイズが5MB以下か確認。JPEG・PNG形式のみ対応しています。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913632"/>
            <a:ext cx="850392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913632"/>
            <a:ext cx="850392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11480" y="4133088"/>
            <a:ext cx="384048" cy="384048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05256" y="39684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ECB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エラーメッセージが出た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05256" y="4279392"/>
            <a:ext cx="7808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Meiryo" pitchFamily="34" charset="0"/>
                <a:ea typeface="Meiryo" pitchFamily="34" charset="-122"/>
                <a:cs typeface="Meiryo" pitchFamily="34" charset="-120"/>
              </a:rPr>
              <a:t>エラーの内容をスクリーンショットして管理者または導入担当者に連絡してください。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0040" y="4828032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操作に関するご質問は担当者までお問い合わせください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574</Words>
  <Application>Microsoft Macintosh PowerPoint</Application>
  <PresentationFormat>画面に合わせる (16:9)</PresentationFormat>
  <Paragraphs>163</Paragraphs>
  <Slides>8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Meiryo</vt:lpstr>
      <vt:lpstr>Arial</vt:lpstr>
      <vt:lpstr>Courier New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使用者マニュアル | 実践の本棚</dc:title>
  <dc:subject>PptxGenJS Presentation</dc:subject>
  <dc:creator>PptxGenJS</dc:creator>
  <cp:lastModifiedBy>祐樹 二見</cp:lastModifiedBy>
  <cp:revision>3</cp:revision>
  <dcterms:created xsi:type="dcterms:W3CDTF">2026-03-28T12:40:31Z</dcterms:created>
  <dcterms:modified xsi:type="dcterms:W3CDTF">2026-03-29T10:33:44Z</dcterms:modified>
</cp:coreProperties>
</file>