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09"/>
    <p:restoredTop sz="94610"/>
  </p:normalViewPr>
  <p:slideViewPr>
    <p:cSldViewPr snapToGrid="0" snapToObjects="1">
      <p:cViewPr varScale="1">
        <p:scale>
          <a:sx n="208" d="100"/>
          <a:sy n="208" d="100"/>
        </p:scale>
        <p:origin x="7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2215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D403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20040" y="1645920"/>
            <a:ext cx="73152" cy="2286000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50292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📋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374904" y="16916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導入マニュアル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74904" y="26517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スプレッドシートの作成からデプロイまで、0からアプリを使えるようにする手順書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0040" y="4389120"/>
            <a:ext cx="54864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CEFF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実践の本棚 | 主題研究 実践記録アプリ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46817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CEFF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全10スライド  ｜  対象：アプリ導入担当者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D4037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274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導入マニュアル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219456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このアプリについて  ─  3つのページ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69494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アプリはURLで3ページに分かれています。役割に応じて使い分けてください。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2697480" cy="3840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51560"/>
            <a:ext cx="2697480" cy="475488"/>
          </a:xfrm>
          <a:prstGeom prst="rect">
            <a:avLst/>
          </a:prstGeom>
          <a:solidFill>
            <a:srgbClr val="5D4037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1051560"/>
            <a:ext cx="2697480" cy="475488"/>
          </a:xfrm>
          <a:prstGeom prst="roundRect">
            <a:avLst>
              <a:gd name="adj" fmla="val 19231"/>
            </a:avLst>
          </a:prstGeom>
          <a:solidFill>
            <a:srgbClr val="5D4037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" y="1088136"/>
            <a:ext cx="2478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📚 実践の本棚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" y="1572768"/>
            <a:ext cx="2478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先生がログインして記録の作成・閲覧をするページ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768" y="2487168"/>
            <a:ext cx="2478024" cy="219456"/>
          </a:xfrm>
          <a:prstGeom prst="roundRect">
            <a:avLst>
              <a:gd name="adj" fmla="val 16667"/>
            </a:avLst>
          </a:prstGeom>
          <a:solidFill>
            <a:srgbClr val="ECEFF1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" y="2487168"/>
            <a:ext cx="2441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…/exec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48056" y="2743200"/>
            <a:ext cx="2441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D40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先生方全員に共有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154680" y="1051560"/>
            <a:ext cx="2697480" cy="3840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54680" y="1051560"/>
            <a:ext cx="2697480" cy="47548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Shape 16"/>
          <p:cNvSpPr/>
          <p:nvPr/>
        </p:nvSpPr>
        <p:spPr>
          <a:xfrm>
            <a:off x="3154680" y="1051560"/>
            <a:ext cx="2697480" cy="475488"/>
          </a:xfrm>
          <a:prstGeom prst="roundRect">
            <a:avLst>
              <a:gd name="adj" fmla="val 19231"/>
            </a:avLst>
          </a:prstGeom>
          <a:solidFill>
            <a:srgbClr val="1565C0"/>
          </a:solidFill>
          <a:ln/>
        </p:spPr>
      </p:sp>
      <p:sp>
        <p:nvSpPr>
          <p:cNvPr id="19" name="Text 17"/>
          <p:cNvSpPr/>
          <p:nvPr/>
        </p:nvSpPr>
        <p:spPr>
          <a:xfrm>
            <a:off x="3264408" y="1088136"/>
            <a:ext cx="2478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🔧 管理者ページ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64408" y="1572768"/>
            <a:ext cx="2478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教員管理・書庫管理・統計の確認</a:t>
            </a:r>
            <a:endParaRPr lang="en-US" sz="1000" dirty="0">
              <a:solidFill>
                <a:srgbClr val="3E2723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（管理者専用）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64408" y="2487168"/>
            <a:ext cx="2478024" cy="219456"/>
          </a:xfrm>
          <a:prstGeom prst="roundRect">
            <a:avLst>
              <a:gd name="adj" fmla="val 16667"/>
            </a:avLst>
          </a:prstGeom>
          <a:solidFill>
            <a:srgbClr val="ECEFF1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82696" y="2487168"/>
            <a:ext cx="2441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…/exec?page=admin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82696" y="2743200"/>
            <a:ext cx="2441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管理者のみに伝える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989320" y="1051560"/>
            <a:ext cx="2697480" cy="3840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89320" y="1051560"/>
            <a:ext cx="2697480" cy="475488"/>
          </a:xfrm>
          <a:prstGeom prst="rect">
            <a:avLst/>
          </a:prstGeom>
          <a:solidFill>
            <a:srgbClr val="26A69A"/>
          </a:solidFill>
          <a:ln/>
        </p:spPr>
      </p:sp>
      <p:sp>
        <p:nvSpPr>
          <p:cNvPr id="27" name="Shape 25"/>
          <p:cNvSpPr/>
          <p:nvPr/>
        </p:nvSpPr>
        <p:spPr>
          <a:xfrm>
            <a:off x="5989320" y="1051560"/>
            <a:ext cx="2697480" cy="475488"/>
          </a:xfrm>
          <a:prstGeom prst="roundRect">
            <a:avLst>
              <a:gd name="adj" fmla="val 19231"/>
            </a:avLst>
          </a:prstGeom>
          <a:solidFill>
            <a:srgbClr val="26A69A"/>
          </a:solidFill>
          <a:ln/>
        </p:spPr>
      </p:sp>
      <p:sp>
        <p:nvSpPr>
          <p:cNvPr id="28" name="Text 26"/>
          <p:cNvSpPr/>
          <p:nvPr/>
        </p:nvSpPr>
        <p:spPr>
          <a:xfrm>
            <a:off x="6099048" y="1088136"/>
            <a:ext cx="2478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🏛️ 公共図書館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099048" y="1572768"/>
            <a:ext cx="2478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全先生の記録を閲覧できるページ</a:t>
            </a:r>
            <a:endParaRPr lang="en-US" sz="1000" dirty="0">
              <a:solidFill>
                <a:srgbClr val="3E2723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（ログイン不要）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99048" y="2487168"/>
            <a:ext cx="2478024" cy="219456"/>
          </a:xfrm>
          <a:prstGeom prst="roundRect">
            <a:avLst>
              <a:gd name="adj" fmla="val 16667"/>
            </a:avLst>
          </a:prstGeom>
          <a:solidFill>
            <a:srgbClr val="ECEFF1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17336" y="2487168"/>
            <a:ext cx="2441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…/exec?page=library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117336" y="2743200"/>
            <a:ext cx="2441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6A6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広く共有してOK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3200400"/>
            <a:ext cx="8366760" cy="786384"/>
          </a:xfrm>
          <a:prstGeom prst="roundRect">
            <a:avLst>
              <a:gd name="adj" fmla="val 8140"/>
            </a:avLst>
          </a:prstGeom>
          <a:solidFill>
            <a:srgbClr val="FFF8E1"/>
          </a:solidFill>
          <a:ln w="19050">
            <a:solidFill>
              <a:srgbClr val="FFA7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9768" y="3291840"/>
            <a:ext cx="8284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79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再デプロイが必要な場面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29768" y="3566160"/>
            <a:ext cx="8284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コードを変更した後は必ず「デプロイを管理」→「新しいバージョン」→「</a:t>
            </a:r>
            <a:r>
              <a:rPr lang="en-US" sz="1000" dirty="0" err="1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デプロイ」の手順が必要です</a:t>
            </a:r>
            <a:r>
              <a:rPr lang="en-US" sz="100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</a:p>
          <a:p>
            <a:pPr marL="0" indent="0">
              <a:buNone/>
            </a:pPr>
            <a:r>
              <a:rPr lang="en-US" sz="1000" dirty="0" err="1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これをしないと変更が反映されません</a:t>
            </a:r>
            <a:r>
              <a:rPr lang="en-US" sz="100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D4037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274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導入マニュアル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219456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導入に必要なもの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694944"/>
            <a:ext cx="8503920" cy="950976"/>
          </a:xfrm>
          <a:prstGeom prst="roundRect">
            <a:avLst>
              <a:gd name="adj" fmla="val 8654"/>
            </a:avLst>
          </a:prstGeom>
          <a:solidFill>
            <a:srgbClr val="E3F2F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9768" y="978408"/>
            <a:ext cx="384048" cy="38404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" y="978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☑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41832" y="76809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Googleアカウント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41832" y="109728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7890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学校のGoogleアカウントでOKです。複数人で使う場合は各自のアカウントが必要です</a:t>
            </a:r>
            <a:r>
              <a:rPr lang="en-US" sz="1050" dirty="0">
                <a:solidFill>
                  <a:srgbClr val="7890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737360"/>
            <a:ext cx="8503920" cy="950976"/>
          </a:xfrm>
          <a:prstGeom prst="roundRect">
            <a:avLst>
              <a:gd name="adj" fmla="val 8654"/>
            </a:avLst>
          </a:prstGeom>
          <a:solidFill>
            <a:srgbClr val="E8F5E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" y="2020824"/>
            <a:ext cx="384048" cy="384048"/>
          </a:xfrm>
          <a:prstGeom prst="ellipse">
            <a:avLst/>
          </a:prstGeom>
          <a:solidFill>
            <a:srgbClr val="26A69A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" y="2020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☑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41832" y="18105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Googleスプレッドシート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41832" y="2139696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890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データの保存先（データベース）になります。このマニュアルで作成手順を説明します。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779776"/>
            <a:ext cx="8503920" cy="950976"/>
          </a:xfrm>
          <a:prstGeom prst="roundRect">
            <a:avLst>
              <a:gd name="adj" fmla="val 8654"/>
            </a:avLst>
          </a:prstGeom>
          <a:solidFill>
            <a:srgbClr val="E0F2F1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" y="3063240"/>
            <a:ext cx="384048" cy="384048"/>
          </a:xfrm>
          <a:prstGeom prst="ellipse">
            <a:avLst/>
          </a:prstGeom>
          <a:solidFill>
            <a:srgbClr val="00796B"/>
          </a:solidFill>
          <a:ln/>
        </p:spPr>
      </p:sp>
      <p:sp>
        <p:nvSpPr>
          <p:cNvPr id="18" name="Text 16"/>
          <p:cNvSpPr/>
          <p:nvPr/>
        </p:nvSpPr>
        <p:spPr>
          <a:xfrm>
            <a:off x="429768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☑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41832" y="28529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提供された4つのファイル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41832" y="318211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890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Code.gs / index.html / admin.html / library.html の4ファイルです。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3822192"/>
            <a:ext cx="8503920" cy="950976"/>
          </a:xfrm>
          <a:prstGeom prst="roundRect">
            <a:avLst>
              <a:gd name="adj" fmla="val 8654"/>
            </a:avLst>
          </a:prstGeom>
          <a:solidFill>
            <a:srgbClr val="FFF9C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9768" y="4105656"/>
            <a:ext cx="384048" cy="384048"/>
          </a:xfrm>
          <a:prstGeom prst="ellipse">
            <a:avLst/>
          </a:prstGeom>
          <a:solidFill>
            <a:srgbClr val="FFA726"/>
          </a:solidFill>
          <a:ln/>
        </p:spPr>
      </p:sp>
      <p:sp>
        <p:nvSpPr>
          <p:cNvPr id="23" name="Text 21"/>
          <p:cNvSpPr/>
          <p:nvPr/>
        </p:nvSpPr>
        <p:spPr>
          <a:xfrm>
            <a:off x="429768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☑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41832" y="389534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インターネット接続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41832" y="4224528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890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アプリの使用中（記録の保存・閲覧）に必要です。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D4037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274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導入マニュアル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219456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1  ─  スプレッドシートを作成する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713232"/>
            <a:ext cx="347472" cy="347472"/>
          </a:xfrm>
          <a:prstGeom prst="ellipse">
            <a:avLst/>
          </a:prstGeom>
          <a:solidFill>
            <a:srgbClr val="26A69A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713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73152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Googleドライブで新しいスプレッドシートを作成し、ファイル名を「実践の本棚」にします。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243584"/>
            <a:ext cx="457200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" y="1335024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26A69A"/>
          </a:solidFill>
          <a:ln/>
        </p:spPr>
      </p:sp>
      <p:sp>
        <p:nvSpPr>
          <p:cNvPr id="11" name="Text 9"/>
          <p:cNvSpPr/>
          <p:nvPr/>
        </p:nvSpPr>
        <p:spPr>
          <a:xfrm>
            <a:off x="393192" y="13350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133502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drive.google.com を開く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865376"/>
            <a:ext cx="457200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3192" y="1956816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26A69A"/>
          </a:solidFill>
          <a:ln/>
        </p:spPr>
      </p:sp>
      <p:sp>
        <p:nvSpPr>
          <p:cNvPr id="15" name="Text 13"/>
          <p:cNvSpPr/>
          <p:nvPr/>
        </p:nvSpPr>
        <p:spPr>
          <a:xfrm>
            <a:off x="393192" y="19568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195681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画面左上「＋ 新規」をクリック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487168"/>
            <a:ext cx="457200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3192" y="2578608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26A69A"/>
          </a:solidFill>
          <a:ln/>
        </p:spPr>
      </p:sp>
      <p:sp>
        <p:nvSpPr>
          <p:cNvPr id="19" name="Text 17"/>
          <p:cNvSpPr/>
          <p:nvPr/>
        </p:nvSpPr>
        <p:spPr>
          <a:xfrm>
            <a:off x="393192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257860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「Googleスプレッドシート」を選択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108960"/>
            <a:ext cx="457200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3192" y="3200400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26A69A"/>
          </a:solidFill>
          <a:ln/>
        </p:spPr>
      </p:sp>
      <p:sp>
        <p:nvSpPr>
          <p:cNvPr id="23" name="Text 21"/>
          <p:cNvSpPr/>
          <p:nvPr/>
        </p:nvSpPr>
        <p:spPr>
          <a:xfrm>
            <a:off x="393192" y="3200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320040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左上のタイトルをクリックして「実践の本棚」と入力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3785616"/>
            <a:ext cx="4572000" cy="530352"/>
          </a:xfrm>
          <a:prstGeom prst="roundRect">
            <a:avLst>
              <a:gd name="adj" fmla="val 12069"/>
            </a:avLst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" y="3877056"/>
            <a:ext cx="4352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💡  </a:t>
            </a:r>
            <a:r>
              <a:rPr lang="en-US" sz="1000" dirty="0" err="1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ファイル名「実践の本棚」はスプレッドシートの管理上の名前です</a:t>
            </a:r>
            <a:r>
              <a:rPr lang="en-US" sz="1000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</a:p>
          <a:p>
            <a:pPr marL="0" indent="0">
              <a:buNone/>
            </a:pPr>
            <a:r>
              <a:rPr lang="ja-JP" altLang="en-US" sz="100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</a:t>
            </a:r>
            <a:r>
              <a:rPr lang="en-US" sz="1000" dirty="0" err="1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先生方には見えません</a:t>
            </a:r>
            <a:r>
              <a:rPr lang="en-US" sz="1000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120640" y="694944"/>
            <a:ext cx="3703320" cy="406908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20640" y="694944"/>
            <a:ext cx="3703320" cy="237744"/>
          </a:xfrm>
          <a:prstGeom prst="rect">
            <a:avLst/>
          </a:prstGeom>
          <a:solidFill>
            <a:srgbClr val="F5F5F5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02936" y="777240"/>
            <a:ext cx="91440" cy="9144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30" name="Shape 28"/>
          <p:cNvSpPr/>
          <p:nvPr/>
        </p:nvSpPr>
        <p:spPr>
          <a:xfrm>
            <a:off x="5321808" y="777240"/>
            <a:ext cx="91440" cy="91440"/>
          </a:xfrm>
          <a:prstGeom prst="ellipse">
            <a:avLst/>
          </a:prstGeom>
          <a:solidFill>
            <a:srgbClr val="FDD835"/>
          </a:solidFill>
          <a:ln/>
        </p:spPr>
      </p:sp>
      <p:sp>
        <p:nvSpPr>
          <p:cNvPr id="31" name="Shape 29"/>
          <p:cNvSpPr/>
          <p:nvPr/>
        </p:nvSpPr>
        <p:spPr>
          <a:xfrm>
            <a:off x="5440680" y="777240"/>
            <a:ext cx="91440" cy="91440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32" name="Shape 30"/>
          <p:cNvSpPr/>
          <p:nvPr/>
        </p:nvSpPr>
        <p:spPr>
          <a:xfrm>
            <a:off x="5559552" y="749808"/>
            <a:ext cx="3191256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96128" y="749808"/>
            <a:ext cx="31181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drive.google.com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5120640" y="932688"/>
            <a:ext cx="1097280" cy="3831336"/>
          </a:xfrm>
          <a:prstGeom prst="rect">
            <a:avLst/>
          </a:prstGeom>
          <a:solidFill>
            <a:srgbClr val="ECEFF1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93792" y="101498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📂 マイドライブ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193792" y="126187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90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📂 共有ドライブ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193792" y="150876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90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🗑 ゴミ箱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17920" y="932688"/>
            <a:ext cx="2606040" cy="3831336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09360" y="1024128"/>
            <a:ext cx="1188720" cy="310896"/>
          </a:xfrm>
          <a:prstGeom prst="roundRect">
            <a:avLst>
              <a:gd name="adj" fmla="val 29412"/>
            </a:avLst>
          </a:prstGeom>
          <a:solidFill>
            <a:srgbClr val="1565C0"/>
          </a:solidFill>
          <a:ln/>
        </p:spPr>
      </p:sp>
      <p:sp>
        <p:nvSpPr>
          <p:cNvPr id="40" name="Text 38"/>
          <p:cNvSpPr/>
          <p:nvPr/>
        </p:nvSpPr>
        <p:spPr>
          <a:xfrm>
            <a:off x="6309360" y="102412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＋ 新規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309360" y="1371600"/>
            <a:ext cx="210312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09360" y="1371600"/>
            <a:ext cx="2103120" cy="256032"/>
          </a:xfrm>
          <a:prstGeom prst="rect">
            <a:avLst/>
          </a:prstGeom>
          <a:solidFill>
            <a:srgbClr val="ECEFF1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82512" y="1389888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📄 Googleドキュメント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309360" y="1627632"/>
            <a:ext cx="2103120" cy="292608"/>
          </a:xfrm>
          <a:prstGeom prst="rect">
            <a:avLst/>
          </a:prstGeom>
          <a:solidFill>
            <a:srgbClr val="E0F2F1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82512" y="1645920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9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📊 Googleスプレッドシート ◀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309360" y="1920240"/>
            <a:ext cx="21031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82512" y="1938528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📑 Googleスライド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309360" y="2615184"/>
            <a:ext cx="23317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82512" y="263347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会議資料_4月.pptx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309360" y="2999232"/>
            <a:ext cx="2331720" cy="347472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82512" y="30175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学級通信.docx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D4037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274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導入マニュアル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219456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2  ─  教員名簿シートを準備する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713232"/>
            <a:ext cx="347472" cy="347472"/>
          </a:xfrm>
          <a:prstGeom prst="ellipse">
            <a:avLst/>
          </a:prstGeom>
          <a:solidFill>
            <a:srgbClr val="26A69A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713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731520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シート名を「教員名簿」に変更し、先生方の名前と管理者情報を入力します。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197864"/>
            <a:ext cx="457200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472184"/>
            <a:ext cx="384048" cy="384048"/>
          </a:xfrm>
          <a:prstGeom prst="ellipse">
            <a:avLst/>
          </a:prstGeom>
          <a:solidFill>
            <a:srgbClr val="26A69A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472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128930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画面下のシートタブ（Sheet1）をダブルクリック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1600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→ 「教員名簿」と入力してEnterを押す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240280"/>
            <a:ext cx="457200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514600"/>
            <a:ext cx="384048" cy="384048"/>
          </a:xfrm>
          <a:prstGeom prst="ellipse">
            <a:avLst/>
          </a:prstGeom>
          <a:solidFill>
            <a:srgbClr val="26A69A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23317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A列（2行目から）に先生の名前を入力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264261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→ 1行1名ずつ入力する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282696"/>
            <a:ext cx="457200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557016"/>
            <a:ext cx="384048" cy="384048"/>
          </a:xfrm>
          <a:prstGeom prst="ellipse">
            <a:avLst/>
          </a:prstGeom>
          <a:solidFill>
            <a:srgbClr val="26A69A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557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337413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管理者にする先生のG列に「TRUE」と入力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368503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→ 必ず大文字で「TRUE」と入力すること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325112"/>
            <a:ext cx="4572000" cy="548640"/>
          </a:xfrm>
          <a:prstGeom prst="roundRect">
            <a:avLst>
              <a:gd name="adj" fmla="val 11667"/>
            </a:avLst>
          </a:prstGeom>
          <a:solidFill>
            <a:srgbClr val="FFF3E0"/>
          </a:solidFill>
          <a:ln w="19050">
            <a:solidFill>
              <a:srgbClr val="FFA7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" y="4416552"/>
            <a:ext cx="4352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360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  B〜F列は空欄のままにしてください。アプリが自動で記入します。G列の「TRUE」は必ず1名以上設定してください。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120640" y="694944"/>
            <a:ext cx="3703320" cy="406908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20640" y="694944"/>
            <a:ext cx="3950208" cy="237744"/>
          </a:xfrm>
          <a:prstGeom prst="rect">
            <a:avLst/>
          </a:prstGeom>
          <a:solidFill>
            <a:srgbClr val="F5F5F5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02936" y="777240"/>
            <a:ext cx="91440" cy="9144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29" name="Shape 27"/>
          <p:cNvSpPr/>
          <p:nvPr/>
        </p:nvSpPr>
        <p:spPr>
          <a:xfrm>
            <a:off x="5321808" y="777240"/>
            <a:ext cx="91440" cy="91440"/>
          </a:xfrm>
          <a:prstGeom prst="ellipse">
            <a:avLst/>
          </a:prstGeom>
          <a:solidFill>
            <a:srgbClr val="FDD835"/>
          </a:solidFill>
          <a:ln/>
        </p:spPr>
      </p:sp>
      <p:sp>
        <p:nvSpPr>
          <p:cNvPr id="30" name="Shape 28"/>
          <p:cNvSpPr/>
          <p:nvPr/>
        </p:nvSpPr>
        <p:spPr>
          <a:xfrm>
            <a:off x="5440680" y="777240"/>
            <a:ext cx="91440" cy="91440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31" name="Shape 29"/>
          <p:cNvSpPr/>
          <p:nvPr/>
        </p:nvSpPr>
        <p:spPr>
          <a:xfrm>
            <a:off x="5559552" y="749808"/>
            <a:ext cx="3191256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96128" y="749808"/>
            <a:ext cx="31181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docs.google.com/spreadsheets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5120640" y="932688"/>
            <a:ext cx="3950208" cy="3831336"/>
          </a:xfrm>
          <a:prstGeom prst="rect">
            <a:avLst/>
          </a:prstGeom>
          <a:solidFill>
            <a:srgbClr val="FAFAFA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20640" y="932688"/>
            <a:ext cx="292608" cy="237744"/>
          </a:xfrm>
          <a:prstGeom prst="rect">
            <a:avLst/>
          </a:prstGeom>
          <a:solidFill>
            <a:srgbClr val="ECEFF1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20640" y="932688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413248" y="932688"/>
            <a:ext cx="749808" cy="237744"/>
          </a:xfrm>
          <a:prstGeom prst="rect">
            <a:avLst/>
          </a:prstGeom>
          <a:solidFill>
            <a:srgbClr val="ECEFF1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13248" y="932688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890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163056" y="932688"/>
            <a:ext cx="438912" cy="237744"/>
          </a:xfrm>
          <a:prstGeom prst="rect">
            <a:avLst/>
          </a:prstGeom>
          <a:solidFill>
            <a:srgbClr val="ECEFF1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63056" y="932688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890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601968" y="932688"/>
            <a:ext cx="548640" cy="237744"/>
          </a:xfrm>
          <a:prstGeom prst="rect">
            <a:avLst/>
          </a:prstGeom>
          <a:solidFill>
            <a:srgbClr val="ECEFF1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01968" y="9326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890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150608" y="932688"/>
            <a:ext cx="493776" cy="237744"/>
          </a:xfrm>
          <a:prstGeom prst="rect">
            <a:avLst/>
          </a:prstGeom>
          <a:solidFill>
            <a:srgbClr val="ECEFF1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50608" y="932688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890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644384" y="932688"/>
            <a:ext cx="493776" cy="237744"/>
          </a:xfrm>
          <a:prstGeom prst="rect">
            <a:avLst/>
          </a:prstGeom>
          <a:solidFill>
            <a:srgbClr val="ECEFF1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44384" y="932688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890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8138160" y="932688"/>
            <a:ext cx="475488" cy="237744"/>
          </a:xfrm>
          <a:prstGeom prst="rect">
            <a:avLst/>
          </a:prstGeom>
          <a:solidFill>
            <a:srgbClr val="ECEFF1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138160" y="9326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890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8613648" y="932688"/>
            <a:ext cx="457200" cy="237744"/>
          </a:xfrm>
          <a:prstGeom prst="rect">
            <a:avLst/>
          </a:prstGeom>
          <a:solidFill>
            <a:srgbClr val="ECEFF1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613648" y="93268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890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413248" y="1170432"/>
            <a:ext cx="749808" cy="256032"/>
          </a:xfrm>
          <a:prstGeom prst="rect">
            <a:avLst/>
          </a:prstGeom>
          <a:solidFill>
            <a:srgbClr val="5D4037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31536" y="117043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氏名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6163056" y="1170432"/>
            <a:ext cx="438912" cy="256032"/>
          </a:xfrm>
          <a:prstGeom prst="rect">
            <a:avLst/>
          </a:prstGeom>
          <a:solidFill>
            <a:srgbClr val="5D4037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81344" y="117043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PIN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6601968" y="1170432"/>
            <a:ext cx="548640" cy="256032"/>
          </a:xfrm>
          <a:prstGeom prst="rect">
            <a:avLst/>
          </a:prstGeom>
          <a:solidFill>
            <a:srgbClr val="5D4037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620256" y="1170432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学年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7150608" y="1170432"/>
            <a:ext cx="493776" cy="256032"/>
          </a:xfrm>
          <a:prstGeom prst="rect">
            <a:avLst/>
          </a:prstGeom>
          <a:solidFill>
            <a:srgbClr val="5D4037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168896" y="11704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学級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7644384" y="1170432"/>
            <a:ext cx="493776" cy="256032"/>
          </a:xfrm>
          <a:prstGeom prst="rect">
            <a:avLst/>
          </a:prstGeom>
          <a:solidFill>
            <a:srgbClr val="5D4037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662672" y="11704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専科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8138160" y="1170432"/>
            <a:ext cx="475488" cy="256032"/>
          </a:xfrm>
          <a:prstGeom prst="rect">
            <a:avLst/>
          </a:prstGeom>
          <a:solidFill>
            <a:srgbClr val="5D4037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156448" y="117043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登録日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8613648" y="1170432"/>
            <a:ext cx="457200" cy="256032"/>
          </a:xfrm>
          <a:prstGeom prst="rect">
            <a:avLst/>
          </a:prstGeom>
          <a:solidFill>
            <a:srgbClr val="5D4037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631936" y="117043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5120640" y="1426464"/>
            <a:ext cx="292608" cy="274320"/>
          </a:xfrm>
          <a:prstGeom prst="rect">
            <a:avLst/>
          </a:prstGeom>
          <a:solidFill>
            <a:srgbClr val="ECEFF1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120640" y="1426464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890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5413248" y="1426464"/>
            <a:ext cx="74980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431536" y="142646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山田花子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6163056" y="1426464"/>
            <a:ext cx="43891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181344" y="1426464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6601968" y="1426464"/>
            <a:ext cx="548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620256" y="1426464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６年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7150608" y="1426464"/>
            <a:ext cx="493776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168896" y="1426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１組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7644384" y="1426464"/>
            <a:ext cx="493776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662672" y="1426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8138160" y="1426464"/>
            <a:ext cx="47548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156448" y="1426464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8613648" y="1426464"/>
            <a:ext cx="457200" cy="274320"/>
          </a:xfrm>
          <a:prstGeom prst="rect">
            <a:avLst/>
          </a:prstGeom>
          <a:solidFill>
            <a:srgbClr val="E8F5E9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631936" y="1426464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TRUE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5120640" y="1700784"/>
            <a:ext cx="292608" cy="274320"/>
          </a:xfrm>
          <a:prstGeom prst="rect">
            <a:avLst/>
          </a:prstGeom>
          <a:solidFill>
            <a:srgbClr val="ECEFF1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120640" y="1700784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890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5413248" y="1700784"/>
            <a:ext cx="749808" cy="274320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431536" y="170078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鈴木一郎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6163056" y="1700784"/>
            <a:ext cx="438912" cy="274320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181344" y="1700784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6601968" y="1700784"/>
            <a:ext cx="548640" cy="274320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620256" y="1700784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５年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7150608" y="1700784"/>
            <a:ext cx="493776" cy="274320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168896" y="17007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２組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7644384" y="1700784"/>
            <a:ext cx="493776" cy="274320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662672" y="17007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理科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8138160" y="1700784"/>
            <a:ext cx="475488" cy="274320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156448" y="1700784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8613648" y="1700784"/>
            <a:ext cx="457200" cy="274320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8631936" y="1700784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5120640" y="1975104"/>
            <a:ext cx="292608" cy="274320"/>
          </a:xfrm>
          <a:prstGeom prst="rect">
            <a:avLst/>
          </a:prstGeom>
          <a:solidFill>
            <a:srgbClr val="ECEFF1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120640" y="1975104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890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5413248" y="1975104"/>
            <a:ext cx="74980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431536" y="197510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田中みどり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6163056" y="1975104"/>
            <a:ext cx="43891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181344" y="1975104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6601968" y="1975104"/>
            <a:ext cx="548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620256" y="1975104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7150608" y="1975104"/>
            <a:ext cx="493776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168896" y="1975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7644384" y="1975104"/>
            <a:ext cx="493776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7662672" y="1975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体育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8138160" y="1975104"/>
            <a:ext cx="47548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8156448" y="1975104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8613648" y="1975104"/>
            <a:ext cx="4572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8631936" y="1975104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5120640" y="2249424"/>
            <a:ext cx="292608" cy="274320"/>
          </a:xfrm>
          <a:prstGeom prst="rect">
            <a:avLst/>
          </a:prstGeom>
          <a:solidFill>
            <a:srgbClr val="ECEFF1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120640" y="2249424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890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5413248" y="2249424"/>
            <a:ext cx="749808" cy="274320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431536" y="224942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佐藤次郎</a:t>
            </a:r>
            <a:endParaRPr lang="en-US" sz="800" dirty="0"/>
          </a:p>
        </p:txBody>
      </p:sp>
      <p:sp>
        <p:nvSpPr>
          <p:cNvPr id="116" name="Shape 114"/>
          <p:cNvSpPr/>
          <p:nvPr/>
        </p:nvSpPr>
        <p:spPr>
          <a:xfrm>
            <a:off x="6163056" y="2249424"/>
            <a:ext cx="438912" cy="274320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6181344" y="2249424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18" name="Shape 116"/>
          <p:cNvSpPr/>
          <p:nvPr/>
        </p:nvSpPr>
        <p:spPr>
          <a:xfrm>
            <a:off x="6601968" y="2249424"/>
            <a:ext cx="548640" cy="274320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6620256" y="2249424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６年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7150608" y="2249424"/>
            <a:ext cx="493776" cy="274320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7168896" y="22494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２組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7644384" y="2249424"/>
            <a:ext cx="493776" cy="274320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7662672" y="22494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8138160" y="2249424"/>
            <a:ext cx="475488" cy="274320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8156448" y="2249424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26" name="Shape 124"/>
          <p:cNvSpPr/>
          <p:nvPr/>
        </p:nvSpPr>
        <p:spPr>
          <a:xfrm>
            <a:off x="8613648" y="2249424"/>
            <a:ext cx="457200" cy="274320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8631936" y="2249424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28" name="Shape 126"/>
          <p:cNvSpPr/>
          <p:nvPr/>
        </p:nvSpPr>
        <p:spPr>
          <a:xfrm>
            <a:off x="5120640" y="4370832"/>
            <a:ext cx="128016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26A69A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5193792" y="437083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6A6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📋 教員名簿</a:t>
            </a:r>
            <a:endParaRPr lang="en-US" sz="850" dirty="0"/>
          </a:p>
        </p:txBody>
      </p:sp>
      <p:sp>
        <p:nvSpPr>
          <p:cNvPr id="130" name="Text 128"/>
          <p:cNvSpPr/>
          <p:nvPr/>
        </p:nvSpPr>
        <p:spPr>
          <a:xfrm>
            <a:off x="5120640" y="45994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FFA7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← ダブルクリックで名前変更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D4037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274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導入マニュアル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219456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3  ─  Apps Scriptを開いてCode.gsを貼り付ける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713232"/>
            <a:ext cx="347472" cy="347472"/>
          </a:xfrm>
          <a:prstGeom prst="ellipse">
            <a:avLst/>
          </a:prstGeom>
          <a:solidFill>
            <a:srgbClr val="26A69A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713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731520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スプレッドシートのメニュー「拡張機能」→「Apps Script」からエディタを開きます。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170432"/>
            <a:ext cx="4572000" cy="969264"/>
          </a:xfrm>
          <a:prstGeom prst="roundRect">
            <a:avLst>
              <a:gd name="adj" fmla="val 7547"/>
            </a:avLst>
          </a:prstGeom>
          <a:solidFill>
            <a:srgbClr val="E0F2F1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" y="1481328"/>
            <a:ext cx="365760" cy="365760"/>
          </a:xfrm>
          <a:prstGeom prst="ellipse">
            <a:avLst/>
          </a:prstGeom>
          <a:solidFill>
            <a:srgbClr val="26A69A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1280160"/>
            <a:ext cx="3877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スプレッドシートのメニューバーから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「拡張機能」→「Apps Script」をクリック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249424"/>
            <a:ext cx="4572000" cy="969264"/>
          </a:xfrm>
          <a:prstGeom prst="roundRect">
            <a:avLst>
              <a:gd name="adj" fmla="val 7547"/>
            </a:avLst>
          </a:prstGeom>
          <a:solidFill>
            <a:srgbClr val="E3F2F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" y="2560320"/>
            <a:ext cx="365760" cy="36576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2359152"/>
            <a:ext cx="3877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エディタが開いたら「コード.gs」の中身を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すべて選択（Ctrl+A）して削除する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328416"/>
            <a:ext cx="4572000" cy="969264"/>
          </a:xfrm>
          <a:prstGeom prst="roundRect">
            <a:avLst>
              <a:gd name="adj" fmla="val 7547"/>
            </a:avLst>
          </a:prstGeom>
          <a:solidFill>
            <a:srgbClr val="E8F5E9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" y="3639312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9" name="Text 17"/>
          <p:cNvSpPr/>
          <p:nvPr/>
        </p:nvSpPr>
        <p:spPr>
          <a:xfrm>
            <a:off x="429768" y="3639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3438144"/>
            <a:ext cx="3877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提供された Code.gs の内容を貼り付け（Ctrl+V）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Ctrl+S で保存する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4462272"/>
            <a:ext cx="4572000" cy="475488"/>
          </a:xfrm>
          <a:prstGeom prst="roundRect">
            <a:avLst>
              <a:gd name="adj" fmla="val 13462"/>
            </a:avLst>
          </a:prstGeom>
          <a:solidFill>
            <a:srgbClr val="FFF3E0"/>
          </a:solidFill>
          <a:ln w="19050">
            <a:solidFill>
              <a:srgbClr val="FFA7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4553712"/>
            <a:ext cx="4462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360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  「function myFunction(){}」は必ず削除してから貼り付けてください。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120640" y="694944"/>
            <a:ext cx="3703320" cy="406908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20640" y="694944"/>
            <a:ext cx="3703320" cy="237744"/>
          </a:xfrm>
          <a:prstGeom prst="rect">
            <a:avLst/>
          </a:prstGeom>
          <a:solidFill>
            <a:srgbClr val="F5F5F5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02936" y="777240"/>
            <a:ext cx="91440" cy="9144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26" name="Shape 24"/>
          <p:cNvSpPr/>
          <p:nvPr/>
        </p:nvSpPr>
        <p:spPr>
          <a:xfrm>
            <a:off x="5321808" y="777240"/>
            <a:ext cx="91440" cy="91440"/>
          </a:xfrm>
          <a:prstGeom prst="ellipse">
            <a:avLst/>
          </a:prstGeom>
          <a:solidFill>
            <a:srgbClr val="FDD835"/>
          </a:solidFill>
          <a:ln/>
        </p:spPr>
      </p:sp>
      <p:sp>
        <p:nvSpPr>
          <p:cNvPr id="27" name="Shape 25"/>
          <p:cNvSpPr/>
          <p:nvPr/>
        </p:nvSpPr>
        <p:spPr>
          <a:xfrm>
            <a:off x="5440680" y="777240"/>
            <a:ext cx="91440" cy="91440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28" name="Shape 26"/>
          <p:cNvSpPr/>
          <p:nvPr/>
        </p:nvSpPr>
        <p:spPr>
          <a:xfrm>
            <a:off x="5559552" y="749808"/>
            <a:ext cx="3191256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96128" y="749808"/>
            <a:ext cx="31181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script.google.com/macros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5120640" y="932688"/>
            <a:ext cx="3703320" cy="3831336"/>
          </a:xfrm>
          <a:prstGeom prst="rect">
            <a:avLst/>
          </a:prstGeom>
          <a:solidFill>
            <a:srgbClr val="F0F0F0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20640" y="932688"/>
            <a:ext cx="1005840" cy="3831336"/>
          </a:xfrm>
          <a:prstGeom prst="rect">
            <a:avLst/>
          </a:prstGeom>
          <a:solidFill>
            <a:srgbClr val="ECECEC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93792" y="1024128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📄 コード.gs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26480" y="932688"/>
            <a:ext cx="2697480" cy="3831336"/>
          </a:xfrm>
          <a:prstGeom prst="rect">
            <a:avLst/>
          </a:prstGeom>
          <a:solidFill>
            <a:srgbClr val="1E1E1E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81344" y="987552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===== 実践の本棚 Code.gs =====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181344" y="1261872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ROSTER_SHEET = '教員名簿';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181344" y="1536192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RECORDS_SHEET = '実践記録';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181344" y="1810512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181344" y="2084832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doGet(e) {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181344" y="2359152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ルーティング処理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181344" y="2633472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HtmlService...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181344" y="2907792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181344" y="3182112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181344" y="3456432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saveRecord(author, data) {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181344" y="3730752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記録を保存する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181344" y="4005072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 success: true };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181344" y="4279392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7278378" y="4462272"/>
            <a:ext cx="152729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FFA7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③ </a:t>
            </a:r>
            <a:r>
              <a:rPr lang="en-US" sz="950" b="1" i="1" dirty="0" err="1">
                <a:solidFill>
                  <a:srgbClr val="FFA7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完了後のイメージ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D4037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274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導入マニュアル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219456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4  ─  HTMLファイルを3つ作成する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713232"/>
            <a:ext cx="347472" cy="347472"/>
          </a:xfrm>
          <a:prstGeom prst="ellipse">
            <a:avLst/>
          </a:prstGeom>
          <a:solidFill>
            <a:srgbClr val="26A69A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713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731520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Apps Scriptエディタで、以下の3つのHTMLファイルを作成して内容を貼り付けます。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2070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40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【作成手順（3回繰り返す）】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499616"/>
            <a:ext cx="457200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545336"/>
            <a:ext cx="347472" cy="347472"/>
          </a:xfrm>
          <a:prstGeom prst="ellipse">
            <a:avLst/>
          </a:prstGeom>
          <a:solidFill>
            <a:srgbClr val="26A69A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5453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15910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左ペインの「ファイル」右の「＋」ボタンをクリック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029968"/>
            <a:ext cx="457200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075688"/>
            <a:ext cx="347472" cy="347472"/>
          </a:xfrm>
          <a:prstGeom prst="ellipse">
            <a:avLst/>
          </a:prstGeom>
          <a:solidFill>
            <a:srgbClr val="26A69A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075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21214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「HTML」を選択する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2560320"/>
            <a:ext cx="457200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2606040"/>
            <a:ext cx="347472" cy="347472"/>
          </a:xfrm>
          <a:prstGeom prst="ellipse">
            <a:avLst/>
          </a:prstGeom>
          <a:solidFill>
            <a:srgbClr val="26A69A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2606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26517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ファイル名を入力してEnterを押す（.htmlは不要）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3090672"/>
            <a:ext cx="457200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3136392"/>
            <a:ext cx="347472" cy="347472"/>
          </a:xfrm>
          <a:prstGeom prst="ellipse">
            <a:avLst/>
          </a:prstGeom>
          <a:solidFill>
            <a:srgbClr val="26A69A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3136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" y="31821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作成されたファイルに内容を貼り付けてCtrl+Sで保存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3675888"/>
            <a:ext cx="4572000" cy="420624"/>
          </a:xfrm>
          <a:prstGeom prst="roundRect">
            <a:avLst>
              <a:gd name="adj" fmla="val 15217"/>
            </a:avLst>
          </a:prstGeom>
          <a:solidFill>
            <a:srgbClr val="FFF3E0"/>
          </a:solidFill>
          <a:ln w="19050">
            <a:solidFill>
              <a:srgbClr val="FFA7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" y="3767328"/>
            <a:ext cx="4352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360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  ファイル名は半角英字で入力！　index / admin / library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120640" y="694944"/>
            <a:ext cx="3703320" cy="406908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57800" y="80467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D40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作成する3つのファイル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120640" y="1152144"/>
            <a:ext cx="3703320" cy="292608"/>
          </a:xfrm>
          <a:prstGeom prst="rect">
            <a:avLst/>
          </a:prstGeom>
          <a:solidFill>
            <a:srgbClr val="5D4037"/>
          </a:solidFill>
          <a:ln/>
        </p:spPr>
      </p:sp>
      <p:sp>
        <p:nvSpPr>
          <p:cNvPr id="31" name="Text 29"/>
          <p:cNvSpPr/>
          <p:nvPr/>
        </p:nvSpPr>
        <p:spPr>
          <a:xfrm>
            <a:off x="5193792" y="115214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作成順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897880" y="1152144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ファイル名（入力）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132320" y="115214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貼り付けるファイル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120640" y="1444752"/>
            <a:ext cx="370332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93792" y="1444752"/>
            <a:ext cx="640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1回目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897880" y="1444752"/>
            <a:ext cx="11704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A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132320" y="1444752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index.html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120640" y="2029968"/>
            <a:ext cx="3703320" cy="585216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93792" y="2029968"/>
            <a:ext cx="640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2回目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897880" y="2029968"/>
            <a:ext cx="11704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A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132320" y="2029968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admin.html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120640" y="2615184"/>
            <a:ext cx="370332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93792" y="2615184"/>
            <a:ext cx="640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3回目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897880" y="2615184"/>
            <a:ext cx="11704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A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132320" y="2615184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library.html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120640" y="3218688"/>
            <a:ext cx="3703320" cy="329184"/>
          </a:xfrm>
          <a:prstGeom prst="rect">
            <a:avLst/>
          </a:prstGeom>
          <a:solidFill>
            <a:srgbClr val="ECEFF1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30368" y="3273552"/>
            <a:ext cx="3483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完成後のファイル一覧イメージ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230368" y="3584448"/>
            <a:ext cx="34838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03520" y="3602736"/>
            <a:ext cx="3410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📄 コード.gs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230368" y="3858768"/>
            <a:ext cx="3483864" cy="256032"/>
          </a:xfrm>
          <a:prstGeom prst="rect">
            <a:avLst/>
          </a:prstGeom>
          <a:solidFill>
            <a:srgbClr val="E0F2F1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03520" y="3877056"/>
            <a:ext cx="3410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9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📄 index.html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230368" y="4133088"/>
            <a:ext cx="3483864" cy="256032"/>
          </a:xfrm>
          <a:prstGeom prst="rect">
            <a:avLst/>
          </a:prstGeom>
          <a:solidFill>
            <a:srgbClr val="E0F2F1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03520" y="4151376"/>
            <a:ext cx="3410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9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📄 admin.html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230368" y="4407408"/>
            <a:ext cx="3483864" cy="256032"/>
          </a:xfrm>
          <a:prstGeom prst="rect">
            <a:avLst/>
          </a:prstGeom>
          <a:solidFill>
            <a:srgbClr val="E0F2F1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303520" y="4425696"/>
            <a:ext cx="3410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9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📄 library.html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120640" y="4663440"/>
            <a:ext cx="3703320" cy="384048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230368" y="4754880"/>
            <a:ext cx="3483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💡  4ファイルが揃えば準備完了！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D4037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274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導入マニュアル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219456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5  ─  デプロイ（公開）する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713232"/>
            <a:ext cx="347472" cy="347472"/>
          </a:xfrm>
          <a:prstGeom prst="ellipse">
            <a:avLst/>
          </a:prstGeom>
          <a:solidFill>
            <a:srgbClr val="26A69A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713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731520"/>
            <a:ext cx="4151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Apps Scriptエディタ右上の「デプロイ」ボタンから設定します。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2070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40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【設定の手順】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481328"/>
            <a:ext cx="45720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591056"/>
            <a:ext cx="347472" cy="347472"/>
          </a:xfrm>
          <a:prstGeom prst="ellipse">
            <a:avLst/>
          </a:prstGeom>
          <a:solidFill>
            <a:srgbClr val="26A69A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591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155448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「デプロイ」→「新しいデプロイ」をクリック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139696"/>
            <a:ext cx="45720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249424"/>
            <a:ext cx="347472" cy="347472"/>
          </a:xfrm>
          <a:prstGeom prst="ellipse">
            <a:avLst/>
          </a:prstGeom>
          <a:solidFill>
            <a:srgbClr val="26A69A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249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221284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⚙ アイコンをクリック→「ウェブアプリ」を選択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2798064"/>
            <a:ext cx="4572000" cy="566928"/>
          </a:xfrm>
          <a:prstGeom prst="roundRect">
            <a:avLst>
              <a:gd name="adj" fmla="val 11290"/>
            </a:avLst>
          </a:prstGeom>
          <a:solidFill>
            <a:srgbClr val="E3F2F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2907792"/>
            <a:ext cx="347472" cy="347472"/>
          </a:xfrm>
          <a:prstGeom prst="ellipse">
            <a:avLst/>
          </a:prstGeom>
          <a:solidFill>
            <a:srgbClr val="26A69A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2907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287121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次のユーザーとして実行：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68680" y="31089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5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自分（自分のメールアドレス）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3456432"/>
            <a:ext cx="4572000" cy="566928"/>
          </a:xfrm>
          <a:prstGeom prst="roundRect">
            <a:avLst>
              <a:gd name="adj" fmla="val 11290"/>
            </a:avLst>
          </a:prstGeom>
          <a:solidFill>
            <a:srgbClr val="E3F2F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3566160"/>
            <a:ext cx="347472" cy="347472"/>
          </a:xfrm>
          <a:prstGeom prst="ellipse">
            <a:avLst/>
          </a:prstGeom>
          <a:solidFill>
            <a:srgbClr val="26A69A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3566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68680" y="35295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アクセスできるユーザー：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68680" y="37673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6A6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自分の組織内の全員  または  全員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4114800"/>
            <a:ext cx="45720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4224528"/>
            <a:ext cx="347472" cy="34747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4224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68680" y="41879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「デプロイ」ボタンをクリック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120640" y="694944"/>
            <a:ext cx="3703320" cy="406908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20640" y="694944"/>
            <a:ext cx="3703320" cy="237744"/>
          </a:xfrm>
          <a:prstGeom prst="rect">
            <a:avLst/>
          </a:prstGeom>
          <a:solidFill>
            <a:srgbClr val="F5F5F5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02936" y="777240"/>
            <a:ext cx="91440" cy="9144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35" name="Shape 33"/>
          <p:cNvSpPr/>
          <p:nvPr/>
        </p:nvSpPr>
        <p:spPr>
          <a:xfrm>
            <a:off x="5321808" y="777240"/>
            <a:ext cx="91440" cy="91440"/>
          </a:xfrm>
          <a:prstGeom prst="ellipse">
            <a:avLst/>
          </a:prstGeom>
          <a:solidFill>
            <a:srgbClr val="FDD835"/>
          </a:solidFill>
          <a:ln/>
        </p:spPr>
      </p:sp>
      <p:sp>
        <p:nvSpPr>
          <p:cNvPr id="36" name="Shape 34"/>
          <p:cNvSpPr/>
          <p:nvPr/>
        </p:nvSpPr>
        <p:spPr>
          <a:xfrm>
            <a:off x="5440680" y="777240"/>
            <a:ext cx="91440" cy="91440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37" name="Shape 35"/>
          <p:cNvSpPr/>
          <p:nvPr/>
        </p:nvSpPr>
        <p:spPr>
          <a:xfrm>
            <a:off x="5559552" y="749808"/>
            <a:ext cx="3191256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96128" y="749808"/>
            <a:ext cx="31181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script.google.com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5120640" y="932688"/>
            <a:ext cx="3703320" cy="3831336"/>
          </a:xfrm>
          <a:prstGeom prst="rect">
            <a:avLst/>
          </a:prstGeom>
          <a:solidFill>
            <a:srgbClr val="ECEFF1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20640" y="932688"/>
            <a:ext cx="37033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80960" y="987552"/>
            <a:ext cx="868680" cy="201168"/>
          </a:xfrm>
          <a:prstGeom prst="roundRect">
            <a:avLst>
              <a:gd name="adj" fmla="val 36364"/>
            </a:avLst>
          </a:prstGeom>
          <a:solidFill>
            <a:srgbClr val="1565C0"/>
          </a:solidFill>
          <a:ln/>
        </p:spPr>
      </p:sp>
      <p:sp>
        <p:nvSpPr>
          <p:cNvPr id="42" name="Text 40"/>
          <p:cNvSpPr/>
          <p:nvPr/>
        </p:nvSpPr>
        <p:spPr>
          <a:xfrm>
            <a:off x="7680960" y="98755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デプロイ ▼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212080" y="1289304"/>
            <a:ext cx="352044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9050">
            <a:solidFill>
              <a:srgbClr val="BDBDB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21808" y="13807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新しいデプロイ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212080" y="1700784"/>
            <a:ext cx="3520440" cy="18288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46" name="Text 44"/>
          <p:cNvSpPr/>
          <p:nvPr/>
        </p:nvSpPr>
        <p:spPr>
          <a:xfrm>
            <a:off x="5321808" y="177393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説明（任意）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321808" y="2029968"/>
            <a:ext cx="3227832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76672" y="2029968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90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実践の本棚 v1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321808" y="257860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次のユーザーとして実行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321808" y="2834640"/>
            <a:ext cx="3227832" cy="329184"/>
          </a:xfrm>
          <a:prstGeom prst="roundRect">
            <a:avLst>
              <a:gd name="adj" fmla="val 16667"/>
            </a:avLst>
          </a:prstGeom>
          <a:solidFill>
            <a:srgbClr val="E0F2F1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76672" y="2834640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79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✓  自分（管理者アカウント）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321808" y="33832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アクセスできるユーザー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321808" y="3639312"/>
            <a:ext cx="3227832" cy="329184"/>
          </a:xfrm>
          <a:prstGeom prst="roundRect">
            <a:avLst>
              <a:gd name="adj" fmla="val 16667"/>
            </a:avLst>
          </a:prstGeom>
          <a:solidFill>
            <a:srgbClr val="E0F2F1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76672" y="3639312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79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✓  自分の組織内の全員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949440" y="4261104"/>
            <a:ext cx="1645920" cy="329184"/>
          </a:xfrm>
          <a:prstGeom prst="roundRect">
            <a:avLst>
              <a:gd name="adj" fmla="val 27778"/>
            </a:avLst>
          </a:prstGeom>
          <a:solidFill>
            <a:srgbClr val="1565C0"/>
          </a:solidFill>
          <a:ln/>
        </p:spPr>
      </p:sp>
      <p:sp>
        <p:nvSpPr>
          <p:cNvPr id="56" name="Text 54"/>
          <p:cNvSpPr/>
          <p:nvPr/>
        </p:nvSpPr>
        <p:spPr>
          <a:xfrm>
            <a:off x="6949440" y="426110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デプロイ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D4037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274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導入マニュアル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219456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6  ─  権限を承認する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713232"/>
            <a:ext cx="347472" cy="347472"/>
          </a:xfrm>
          <a:prstGeom prst="ellipse">
            <a:avLst/>
          </a:prstGeom>
          <a:solidFill>
            <a:srgbClr val="26A69A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713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731520"/>
            <a:ext cx="8001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初回デプロイ後に「承認が必要」というダイアログが出ます。落ち着いて操作してください。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170432"/>
            <a:ext cx="1993392" cy="2377440"/>
          </a:xfrm>
          <a:prstGeom prst="roundRect">
            <a:avLst>
              <a:gd name="adj" fmla="val 4587"/>
            </a:avLst>
          </a:prstGeom>
          <a:solidFill>
            <a:srgbClr val="E3F2F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15568" y="1225296"/>
            <a:ext cx="402336" cy="402336"/>
          </a:xfrm>
          <a:prstGeom prst="ellipse">
            <a:avLst/>
          </a:prstGeom>
          <a:solidFill>
            <a:srgbClr val="0D47A1"/>
          </a:solidFill>
          <a:ln/>
        </p:spPr>
      </p:sp>
      <p:sp>
        <p:nvSpPr>
          <p:cNvPr id="11" name="Text 9"/>
          <p:cNvSpPr/>
          <p:nvPr/>
        </p:nvSpPr>
        <p:spPr>
          <a:xfrm>
            <a:off x="1115568" y="1225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" y="1737360"/>
            <a:ext cx="1810512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「アクセスを承認」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をクリック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31720" y="2157984"/>
            <a:ext cx="91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890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404872" y="1170432"/>
            <a:ext cx="1993392" cy="2377440"/>
          </a:xfrm>
          <a:prstGeom prst="roundRect">
            <a:avLst>
              <a:gd name="adj" fmla="val 4587"/>
            </a:avLst>
          </a:prstGeom>
          <a:solidFill>
            <a:srgbClr val="E0F2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1225296"/>
            <a:ext cx="402336" cy="402336"/>
          </a:xfrm>
          <a:prstGeom prst="ellipse">
            <a:avLst/>
          </a:prstGeom>
          <a:solidFill>
            <a:srgbClr val="26A69A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0" y="1225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496312" y="1737360"/>
            <a:ext cx="1810512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Googleアカウント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を選択する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16552" y="2157984"/>
            <a:ext cx="91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890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489704" y="1170432"/>
            <a:ext cx="1993392" cy="2377440"/>
          </a:xfrm>
          <a:prstGeom prst="roundRect">
            <a:avLst>
              <a:gd name="adj" fmla="val 4587"/>
            </a:avLst>
          </a:prstGeom>
          <a:solidFill>
            <a:srgbClr val="FFF9C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85232" y="1225296"/>
            <a:ext cx="402336" cy="402336"/>
          </a:xfrm>
          <a:prstGeom prst="ellipse">
            <a:avLst/>
          </a:prstGeom>
          <a:solidFill>
            <a:srgbClr val="FFA726"/>
          </a:solidFill>
          <a:ln/>
        </p:spPr>
      </p:sp>
      <p:sp>
        <p:nvSpPr>
          <p:cNvPr id="21" name="Text 19"/>
          <p:cNvSpPr/>
          <p:nvPr/>
        </p:nvSpPr>
        <p:spPr>
          <a:xfrm>
            <a:off x="5285232" y="1225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81144" y="1737360"/>
            <a:ext cx="1810512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「詳細」をクリック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（確認されていません）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01384" y="2157984"/>
            <a:ext cx="91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890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574536" y="1170432"/>
            <a:ext cx="1993392" cy="2377440"/>
          </a:xfrm>
          <a:prstGeom prst="roundRect">
            <a:avLst>
              <a:gd name="adj" fmla="val 4587"/>
            </a:avLst>
          </a:prstGeom>
          <a:solidFill>
            <a:srgbClr val="E8F5E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70064" y="1225296"/>
            <a:ext cx="402336" cy="40233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6" name="Text 24"/>
          <p:cNvSpPr/>
          <p:nvPr/>
        </p:nvSpPr>
        <p:spPr>
          <a:xfrm>
            <a:off x="7370064" y="1225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665976" y="1737360"/>
            <a:ext cx="1810512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「（名前）に移動」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→「許可」をクリック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3675888"/>
            <a:ext cx="8503920" cy="877824"/>
          </a:xfrm>
          <a:prstGeom prst="roundRect">
            <a:avLst>
              <a:gd name="adj" fmla="val 7292"/>
            </a:avLst>
          </a:prstGeom>
          <a:solidFill>
            <a:srgbClr val="FFF8E1"/>
          </a:solidFill>
          <a:ln w="19050">
            <a:solidFill>
              <a:srgbClr val="FFA7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9768" y="3767328"/>
            <a:ext cx="8284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79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「このアプリは確認されていません」という警告について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29768" y="4041648"/>
            <a:ext cx="8284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自作のApps </a:t>
            </a:r>
            <a:r>
              <a:rPr lang="en-US" sz="1000" dirty="0" err="1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Scriptには必ず表示される警告です。Google社に審査を申請していないだけで、自分で作成したスクリプトなので安全です</a:t>
            </a:r>
            <a:r>
              <a:rPr lang="en-US" sz="100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「詳細」→「（プロジェクト名）に移動」→「許可」の順に進んでください。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D4037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274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導入マニュアル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219456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7  ─  URLを確認して先生方に共有する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713232"/>
            <a:ext cx="347472" cy="347472"/>
          </a:xfrm>
          <a:prstGeom prst="ellipse">
            <a:avLst/>
          </a:prstGeom>
          <a:solidFill>
            <a:srgbClr val="26A69A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713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731520"/>
            <a:ext cx="8001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デプロイ完了後に表示される「ウェブアプリのURL」が3ページの入口です。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170432"/>
            <a:ext cx="8503920" cy="420624"/>
          </a:xfrm>
          <a:prstGeom prst="roundRect">
            <a:avLst>
              <a:gd name="adj" fmla="val 15217"/>
            </a:avLst>
          </a:prstGeom>
          <a:solidFill>
            <a:srgbClr val="ECEFF1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435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8909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ウェブアプリのURL: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14600" y="1243584"/>
            <a:ext cx="617220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1243584"/>
            <a:ext cx="6080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E27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https://script.google.com/macros/s/（英数字の長い文字列）/exec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" y="1719072"/>
            <a:ext cx="8503920" cy="85267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1719072"/>
            <a:ext cx="117611" cy="852678"/>
          </a:xfrm>
          <a:prstGeom prst="rect">
            <a:avLst/>
          </a:prstGeom>
          <a:solidFill>
            <a:srgbClr val="5D4037"/>
          </a:solidFill>
          <a:ln/>
        </p:spPr>
      </p:sp>
      <p:sp>
        <p:nvSpPr>
          <p:cNvPr id="15" name="Text 13"/>
          <p:cNvSpPr/>
          <p:nvPr/>
        </p:nvSpPr>
        <p:spPr>
          <a:xfrm>
            <a:off x="557784" y="179222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📚 実践の本棚（先生用）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57784" y="2157984"/>
            <a:ext cx="4937760" cy="256032"/>
          </a:xfrm>
          <a:prstGeom prst="roundRect">
            <a:avLst>
              <a:gd name="adj" fmla="val 14286"/>
            </a:avLst>
          </a:prstGeom>
          <a:solidFill>
            <a:srgbClr val="ECEFF1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215798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27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…/exec（そのまま）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641848" y="1914525"/>
            <a:ext cx="2971800" cy="493776"/>
          </a:xfrm>
          <a:prstGeom prst="roundRect">
            <a:avLst>
              <a:gd name="adj" fmla="val 22222"/>
            </a:avLst>
          </a:prstGeom>
          <a:solidFill>
            <a:srgbClr val="5D4037"/>
          </a:solidFill>
          <a:ln/>
        </p:spPr>
      </p:sp>
      <p:sp>
        <p:nvSpPr>
          <p:cNvPr id="19" name="Text 17"/>
          <p:cNvSpPr/>
          <p:nvPr/>
        </p:nvSpPr>
        <p:spPr>
          <a:xfrm>
            <a:off x="5715000" y="1914525"/>
            <a:ext cx="2834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先生方全員にQRコードで配布がおすすめ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663190"/>
            <a:ext cx="8503920" cy="85267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663190"/>
            <a:ext cx="117611" cy="85267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2" name="Text 20"/>
          <p:cNvSpPr/>
          <p:nvPr/>
        </p:nvSpPr>
        <p:spPr>
          <a:xfrm>
            <a:off x="557784" y="273634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🔧 管理者ページ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57784" y="3102102"/>
            <a:ext cx="4937760" cy="256032"/>
          </a:xfrm>
          <a:prstGeom prst="roundRect">
            <a:avLst>
              <a:gd name="adj" fmla="val 14286"/>
            </a:avLst>
          </a:prstGeom>
          <a:solidFill>
            <a:srgbClr val="ECEFF1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" y="310210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27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…/exec?page=admin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641848" y="2855214"/>
            <a:ext cx="2971800" cy="493776"/>
          </a:xfrm>
          <a:prstGeom prst="roundRect">
            <a:avLst>
              <a:gd name="adj" fmla="val 22222"/>
            </a:avLst>
          </a:prstGeom>
          <a:solidFill>
            <a:srgbClr val="1565C0"/>
          </a:solidFill>
          <a:ln/>
        </p:spPr>
      </p:sp>
      <p:sp>
        <p:nvSpPr>
          <p:cNvPr id="26" name="Text 24"/>
          <p:cNvSpPr/>
          <p:nvPr/>
        </p:nvSpPr>
        <p:spPr>
          <a:xfrm>
            <a:off x="5715000" y="2855214"/>
            <a:ext cx="2834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管理者のみに伝える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3607308"/>
            <a:ext cx="8503920" cy="85267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3607308"/>
            <a:ext cx="117611" cy="852678"/>
          </a:xfrm>
          <a:prstGeom prst="rect">
            <a:avLst/>
          </a:prstGeom>
          <a:solidFill>
            <a:srgbClr val="26A69A"/>
          </a:solidFill>
          <a:ln/>
        </p:spPr>
      </p:sp>
      <p:sp>
        <p:nvSpPr>
          <p:cNvPr id="29" name="Text 27"/>
          <p:cNvSpPr/>
          <p:nvPr/>
        </p:nvSpPr>
        <p:spPr>
          <a:xfrm>
            <a:off x="557784" y="36804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E27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🏛️ 公共図書館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57784" y="4046220"/>
            <a:ext cx="4937760" cy="256032"/>
          </a:xfrm>
          <a:prstGeom prst="roundRect">
            <a:avLst>
              <a:gd name="adj" fmla="val 14286"/>
            </a:avLst>
          </a:prstGeom>
          <a:solidFill>
            <a:srgbClr val="ECEFF1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" y="40462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27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…/exec?page=library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641848" y="3790188"/>
            <a:ext cx="2971800" cy="493776"/>
          </a:xfrm>
          <a:prstGeom prst="roundRect">
            <a:avLst>
              <a:gd name="adj" fmla="val 22222"/>
            </a:avLst>
          </a:prstGeom>
          <a:solidFill>
            <a:srgbClr val="26A69A"/>
          </a:solidFill>
          <a:ln/>
        </p:spPr>
      </p:sp>
      <p:sp>
        <p:nvSpPr>
          <p:cNvPr id="33" name="Text 31"/>
          <p:cNvSpPr/>
          <p:nvPr/>
        </p:nvSpPr>
        <p:spPr>
          <a:xfrm>
            <a:off x="5715000" y="3790188"/>
            <a:ext cx="2834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保護者・地域にも広く共有可能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4604004"/>
            <a:ext cx="8503920" cy="384048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9768" y="4695444"/>
            <a:ext cx="8284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💡  QRコード化がおすすめ！「QRコード 生成」でGoogle検索して、URLをQRコードに変換→印刷して職員室に掲示すると便利です。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950</Words>
  <Application>Microsoft Macintosh PowerPoint</Application>
  <PresentationFormat>画面に合わせる (16:9)</PresentationFormat>
  <Paragraphs>247</Paragraphs>
  <Slides>10</Slides>
  <Notes>10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Meiryo</vt:lpstr>
      <vt:lpstr>Arial</vt:lpstr>
      <vt:lpstr>Courier New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導入マニュアル | 実践の本棚</dc:title>
  <dc:subject>PptxGenJS Presentation</dc:subject>
  <dc:creator>PptxGenJS</dc:creator>
  <cp:lastModifiedBy>祐樹 二見</cp:lastModifiedBy>
  <cp:revision>4</cp:revision>
  <dcterms:created xsi:type="dcterms:W3CDTF">2026-03-28T12:40:31Z</dcterms:created>
  <dcterms:modified xsi:type="dcterms:W3CDTF">2026-03-29T10:12:01Z</dcterms:modified>
</cp:coreProperties>
</file>